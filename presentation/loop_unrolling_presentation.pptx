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latency</c:v>
                </c:pt>
              </c:strCache>
            </c:strRef>
          </c:tx>
          <c:spPr>
            <a:solidFill>
              <a:srgbClr val="C0504D"/>
            </a:solidFill>
            <a:ln w="30480" cap="flat">
              <a:solidFill>
                <a:srgbClr val="C050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</c:v>
                  </c:pt>
                  <c:pt idx="1">
                    <c:v>2</c:v>
                  </c:pt>
                  <c:pt idx="2">
                    <c:v>4</c:v>
                  </c:pt>
                  <c:pt idx="3">
                    <c:v>8</c:v>
                  </c:pt>
                  <c:pt idx="4">
                    <c:v>16</c:v>
                  </c:pt>
                  <c:pt idx="5">
                    <c:v>32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128</c:v>
                </c:pt>
                <c:pt idx="1">
                  <c:v>96</c:v>
                </c:pt>
                <c:pt idx="2">
                  <c:v>82</c:v>
                </c:pt>
                <c:pt idx="3">
                  <c:v>72</c:v>
                </c:pt>
                <c:pt idx="4">
                  <c:v>66</c:v>
                </c:pt>
                <c:pt idx="5">
                  <c:v>66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Controller delay trend</c:v>
                </c:pt>
              </c:strCache>
            </c:strRef>
          </c:tx>
          <c:spPr>
            <a:solidFill>
              <a:srgbClr val="4F81BD"/>
            </a:solidFill>
            <a:ln w="30480" cap="flat">
              <a:solidFill>
                <a:srgbClr val="4F81B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4F81BD"/>
              </a:solidFill>
              <a:ln w="9525" cap="flat">
                <a:solidFill>
                  <a:srgbClr val="4F81B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</c:v>
                  </c:pt>
                  <c:pt idx="1">
                    <c:v>2</c:v>
                  </c:pt>
                  <c:pt idx="2">
                    <c:v>4</c:v>
                  </c:pt>
                  <c:pt idx="3">
                    <c:v>8</c:v>
                  </c:pt>
                  <c:pt idx="4">
                    <c:v>16</c:v>
                  </c:pt>
                  <c:pt idx="5">
                    <c:v>32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</c:v>
                </c:pt>
                <c:pt idx="1">
                  <c:v>2.6</c:v>
                </c:pt>
                <c:pt idx="2">
                  <c:v>3.1</c:v>
                </c:pt>
                <c:pt idx="3">
                  <c:v>3.6</c:v>
                </c:pt>
                <c:pt idx="4">
                  <c:v>4</c:v>
                </c:pt>
                <c:pt idx="5">
                  <c:v>4.5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Candidates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loop</c:v>
                  </c:pt>
                  <c:pt idx="1">
                    <c:v>2 loops</c:v>
                  </c:pt>
                  <c:pt idx="2">
                    <c:v>3 loops</c:v>
                  </c:pt>
                  <c:pt idx="3">
                    <c:v>4 loops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36</c:v>
                </c:pt>
                <c:pt idx="2">
                  <c:v>216</c:v>
                </c:pt>
                <c:pt idx="3">
                  <c:v>1296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pto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Estimated latency</c:v>
                </c:pt>
              </c:strCache>
            </c:strRef>
          </c:tx>
          <c:spPr>
            <a:solidFill>
              <a:srgbClr val="C0504D"/>
            </a:solidFill>
            <a:ln w="25400" cap="flat">
              <a:solidFill>
                <a:srgbClr val="C050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</c:v>
                  </c:pt>
                  <c:pt idx="1">
                    <c:v>2</c:v>
                  </c:pt>
                  <c:pt idx="2">
                    <c:v>4</c:v>
                  </c:pt>
                  <c:pt idx="3">
                    <c:v>8</c:v>
                  </c:pt>
                  <c:pt idx="4">
                    <c:v>16</c:v>
                  </c:pt>
                  <c:pt idx="5">
                    <c:v>32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128</c:v>
                </c:pt>
                <c:pt idx="1">
                  <c:v>96</c:v>
                </c:pt>
                <c:pt idx="2">
                  <c:v>80</c:v>
                </c:pt>
                <c:pt idx="3">
                  <c:v>72</c:v>
                </c:pt>
                <c:pt idx="4">
                  <c:v>68</c:v>
                </c:pt>
                <c:pt idx="5">
                  <c:v>66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Controller delay</c:v>
                </c:pt>
              </c:strCache>
            </c:strRef>
          </c:tx>
          <c:spPr>
            <a:solidFill>
              <a:srgbClr val="C0504D"/>
            </a:solidFill>
            <a:ln w="25400" cap="flat">
              <a:solidFill>
                <a:srgbClr val="C050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0504D"/>
              </a:solidFill>
              <a:ln w="9525" cap="flat">
                <a:solidFill>
                  <a:srgbClr val="C050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</c:v>
                  </c:pt>
                  <c:pt idx="1">
                    <c:v>2</c:v>
                  </c:pt>
                  <c:pt idx="2">
                    <c:v>4</c:v>
                  </c:pt>
                  <c:pt idx="3">
                    <c:v>8</c:v>
                  </c:pt>
                  <c:pt idx="4">
                    <c:v>16</c:v>
                  </c:pt>
                  <c:pt idx="5">
                    <c:v>32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1.9</c:v>
                </c:pt>
                <c:pt idx="1">
                  <c:v>2.5</c:v>
                </c:pt>
                <c:pt idx="2">
                  <c:v>3</c:v>
                </c:pt>
                <c:pt idx="3">
                  <c:v>3.5</c:v>
                </c:pt>
                <c:pt idx="4">
                  <c:v>4</c:v>
                </c:pt>
                <c:pt idx="5">
                  <c:v>4.6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D3B66"/>
          </a:solidFill>
          <a:ln w="12700">
            <a:solidFill>
              <a:srgbClr val="0D3B6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2025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2025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3B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143000"/>
            <a:ext cx="74980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Impact of Loop Unrolling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 Controller Delay in HLS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713232" y="28346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8EAF6"/>
                </a:solidFill>
              </a:rPr>
              <a:t>Seminar presentation • High-Level Synthesis, FSM delay, and student implementation plan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13232" y="5257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Christian Percival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Hochschule Hamm-Lippstadt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0" y="4343400"/>
            <a:ext cx="1234440" cy="594360"/>
          </a:xfrm>
          <a:prstGeom prst="roundRect">
            <a:avLst>
              <a:gd name="adj" fmla="val 6154"/>
            </a:avLst>
          </a:prstGeom>
          <a:solidFill>
            <a:srgbClr val="D8EAF6"/>
          </a:solidFill>
          <a:ln w="1397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0" y="4443984"/>
            <a:ext cx="123444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D3B66"/>
                </a:solidFill>
              </a:rPr>
              <a:t>Loop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0" y="4343400"/>
            <a:ext cx="1234440" cy="594360"/>
          </a:xfrm>
          <a:prstGeom prst="roundRect">
            <a:avLst>
              <a:gd name="adj" fmla="val 6154"/>
            </a:avLst>
          </a:prstGeom>
          <a:solidFill>
            <a:srgbClr val="FDEBD2"/>
          </a:solidFill>
          <a:ln w="1397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0" y="4443984"/>
            <a:ext cx="123444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D3B66"/>
                </a:solidFill>
              </a:rPr>
              <a:t>FSM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9646920" y="4636008"/>
            <a:ext cx="393192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  <a:headEnd type="none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2025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3B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this topic matters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A software optimization becomes a hardware architecture decision in HLS.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85800" y="1508760"/>
            <a:ext cx="2926080" cy="2423160"/>
          </a:xfrm>
          <a:prstGeom prst="roundRect">
            <a:avLst>
              <a:gd name="adj" fmla="val 1509"/>
            </a:avLst>
          </a:prstGeom>
          <a:solidFill>
            <a:srgbClr val="D8EAF6"/>
          </a:solidFill>
          <a:ln w="13970">
            <a:solidFill>
              <a:srgbClr val="0D3B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91640"/>
            <a:ext cx="265176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Software compiler view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2240280"/>
            <a:ext cx="233172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F2937"/>
                </a:solidFill>
              </a:rPr>
              <a:t>reduce loop overhead</a:t>
            </a:r>
            <a:endParaRPr lang="en-US" sz="1400" dirty="0"/>
          </a:p>
          <a:p>
            <a:r>
              <a:rPr lang="en-US" sz="1400" dirty="0">
                <a:solidFill>
                  <a:srgbClr val="1F2937"/>
                </a:solidFill>
              </a:rPr>
              <a:t>expose instruction-level parallelism</a:t>
            </a:r>
            <a:endParaRPr lang="en-US" sz="1400" dirty="0"/>
          </a:p>
          <a:p>
            <a:r>
              <a:rPr lang="en-US" sz="1400" dirty="0">
                <a:solidFill>
                  <a:srgbClr val="1F2937"/>
                </a:solidFill>
              </a:rPr>
              <a:t>watch code size / cache effects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17720" y="1508760"/>
            <a:ext cx="2926080" cy="2423160"/>
          </a:xfrm>
          <a:prstGeom prst="roundRect">
            <a:avLst>
              <a:gd name="adj" fmla="val 1509"/>
            </a:avLst>
          </a:prstGeom>
          <a:solidFill>
            <a:srgbClr val="FDEBD2"/>
          </a:solidFill>
          <a:ln w="13970">
            <a:solidFill>
              <a:srgbClr val="F4A2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0" y="1691640"/>
            <a:ext cx="265176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HLS hardware view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892040" y="2240280"/>
            <a:ext cx="2331720" cy="1325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400" dirty="0">
                <a:solidFill>
                  <a:srgbClr val="1F2937"/>
                </a:solidFill>
              </a:rPr>
              <a:t>duplicated operations become hardware structure</a:t>
            </a:r>
            <a:endParaRPr lang="en-US" sz="1400" dirty="0"/>
          </a:p>
          <a:p>
            <a:r>
              <a:rPr lang="en-US" sz="1400" dirty="0">
                <a:solidFill>
                  <a:srgbClr val="1F2937"/>
                </a:solidFill>
              </a:rPr>
              <a:t>datapath and FSM both change</a:t>
            </a:r>
            <a:endParaRPr lang="en-US" sz="1400" dirty="0"/>
          </a:p>
          <a:p>
            <a:r>
              <a:rPr lang="en-US" sz="1400" dirty="0">
                <a:solidFill>
                  <a:srgbClr val="1F2937"/>
                </a:solidFill>
              </a:rPr>
              <a:t>timing closure can get harder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549640" y="1508760"/>
            <a:ext cx="2926080" cy="2423160"/>
          </a:xfrm>
          <a:prstGeom prst="roundRect">
            <a:avLst>
              <a:gd name="adj" fmla="val 1509"/>
            </a:avLst>
          </a:prstGeom>
          <a:solidFill>
            <a:srgbClr val="FCE2DC"/>
          </a:solidFill>
          <a:ln w="13970">
            <a:solidFill>
              <a:srgbClr val="E76F5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0" y="1691640"/>
            <a:ext cx="265176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Seminar question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887968" y="2395728"/>
            <a:ext cx="2240280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76F51"/>
                </a:solidFill>
              </a:rPr>
              <a:t>When does unrolling stop helping and start hurting timing?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11880" y="2697480"/>
            <a:ext cx="978408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543800" y="2697480"/>
            <a:ext cx="978408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" y="6236208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Based on Kurra, Singh &amp; Panda, DATE 2007.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02920" y="6629400"/>
            <a:ext cx="8046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Loop unrolling in HLS • Controller delay and timing tradeoffs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2025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3B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HLS output: datapath +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The critical path can include controller logic, multiplexers, function units, and registers.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1828800" y="3337560"/>
            <a:ext cx="914400" cy="0"/>
          </a:xfrm>
          <a:prstGeom prst="line">
            <a:avLst/>
          </a:prstGeom>
          <a:noFill/>
          <a:ln w="25400">
            <a:solidFill>
              <a:srgbClr val="0D3B66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3931920" y="3337560"/>
            <a:ext cx="822960" cy="0"/>
          </a:xfrm>
          <a:prstGeom prst="line">
            <a:avLst/>
          </a:prstGeom>
          <a:noFill/>
          <a:ln w="25400">
            <a:solidFill>
              <a:srgbClr val="0D3B66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5852160" y="3337560"/>
            <a:ext cx="822960" cy="0"/>
          </a:xfrm>
          <a:prstGeom prst="line">
            <a:avLst/>
          </a:prstGeom>
          <a:noFill/>
          <a:ln w="25400">
            <a:solidFill>
              <a:srgbClr val="0D3B66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72400" y="3337560"/>
            <a:ext cx="822960" cy="0"/>
          </a:xfrm>
          <a:prstGeom prst="line">
            <a:avLst/>
          </a:prstGeom>
          <a:noFill/>
          <a:ln w="25400">
            <a:solidFill>
              <a:srgbClr val="0D3B66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85800" y="2606040"/>
            <a:ext cx="1143000" cy="1463040"/>
          </a:xfrm>
          <a:prstGeom prst="roundRect">
            <a:avLst>
              <a:gd name="adj" fmla="val 3200"/>
            </a:avLst>
          </a:prstGeom>
          <a:solidFill>
            <a:srgbClr val="D8EAF6"/>
          </a:solidFill>
          <a:ln w="13970">
            <a:solidFill>
              <a:srgbClr val="0D3B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880360"/>
            <a:ext cx="96012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3B66"/>
                </a:solidFill>
              </a:rPr>
              <a:t>FSM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D3B66"/>
                </a:solidFill>
              </a:rPr>
              <a:t>Controller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743200" y="2606040"/>
            <a:ext cx="1188720" cy="1463040"/>
          </a:xfrm>
          <a:prstGeom prst="roundRect">
            <a:avLst>
              <a:gd name="adj" fmla="val 3077"/>
            </a:avLst>
          </a:prstGeom>
          <a:solidFill>
            <a:srgbClr val="FDEBD2"/>
          </a:solidFill>
          <a:ln w="13970">
            <a:solidFill>
              <a:srgbClr val="F4A2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80360" y="2880360"/>
            <a:ext cx="91440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3B66"/>
                </a:solidFill>
              </a:rPr>
              <a:t>Input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D3B66"/>
                </a:solidFill>
              </a:rPr>
              <a:t>MUX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754880" y="2606040"/>
            <a:ext cx="1097280" cy="1463040"/>
          </a:xfrm>
          <a:prstGeom prst="roundRect">
            <a:avLst>
              <a:gd name="adj" fmla="val 3333"/>
            </a:avLst>
          </a:prstGeom>
          <a:solidFill>
            <a:srgbClr val="E6F0DD"/>
          </a:solidFill>
          <a:ln w="13970">
            <a:solidFill>
              <a:srgbClr val="6A99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55464" y="2880360"/>
            <a:ext cx="91440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3B66"/>
                </a:solidFill>
              </a:rPr>
              <a:t>FU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D3B66"/>
                </a:solidFill>
              </a:rPr>
              <a:t>+, *, ==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675120" y="2606040"/>
            <a:ext cx="1097280" cy="1463040"/>
          </a:xfrm>
          <a:prstGeom prst="roundRect">
            <a:avLst>
              <a:gd name="adj" fmla="val 3333"/>
            </a:avLst>
          </a:prstGeom>
          <a:solidFill>
            <a:srgbClr val="FDEBD2"/>
          </a:solidFill>
          <a:ln w="13970">
            <a:solidFill>
              <a:srgbClr val="F4A2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93992" y="2880360"/>
            <a:ext cx="86868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3B66"/>
                </a:solidFill>
              </a:rPr>
              <a:t>Reg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D3B66"/>
                </a:solidFill>
              </a:rPr>
              <a:t>MUX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595360" y="2606040"/>
            <a:ext cx="1188720" cy="1463040"/>
          </a:xfrm>
          <a:prstGeom prst="roundRect">
            <a:avLst>
              <a:gd name="adj" fmla="val 3077"/>
            </a:avLst>
          </a:prstGeom>
          <a:solidFill>
            <a:srgbClr val="ECE3F0"/>
          </a:solidFill>
          <a:ln w="13970">
            <a:solidFill>
              <a:srgbClr val="6D597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32520" y="2880360"/>
            <a:ext cx="91440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3B66"/>
                </a:solidFill>
              </a:rPr>
              <a:t>State /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D3B66"/>
                </a:solidFill>
              </a:rPr>
              <a:t>Data Regs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60120" y="4800600"/>
            <a:ext cx="8961120" cy="548640"/>
          </a:xfrm>
          <a:prstGeom prst="roundRect">
            <a:avLst>
              <a:gd name="adj" fmla="val 6667"/>
            </a:avLst>
          </a:prstGeom>
          <a:solidFill>
            <a:srgbClr val="FCE2DC"/>
          </a:solidFill>
          <a:ln w="13970">
            <a:solidFill>
              <a:srgbClr val="E76F5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43000" y="4965192"/>
            <a:ext cx="859536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E76F51"/>
                </a:solidFill>
              </a:rPr>
              <a:t>Clock period must cover the whole path — not just arithmetic units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0195560" y="1920240"/>
            <a:ext cx="1325880" cy="28803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3970">
            <a:solidFill>
              <a:srgbClr val="6B728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351008" y="2240280"/>
            <a:ext cx="1005840" cy="2148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1F2937"/>
                </a:solidFill>
              </a:rPr>
              <a:t>Unrolling grows the loop body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1F2937"/>
                </a:solidFill>
              </a:rPr>
              <a:t>→ more states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1F2937"/>
                </a:solidFill>
              </a:rPr>
              <a:t>→ more control decisions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1F2937"/>
                </a:solidFill>
              </a:rPr>
              <a:t>→ larger MUXes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48640" y="6236208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Concept adapted from the behavioral synthesis output and critical path discussion in Kurra et al.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502920" y="6629400"/>
            <a:ext cx="8046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Loop unrolling in HLS • Controller delay and timing tradeoffs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2025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3B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Loop unrolling example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Same computation, fewer iterations, but more operations inside each loop body.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85800" y="1417320"/>
            <a:ext cx="4937760" cy="4389120"/>
          </a:xfrm>
          <a:prstGeom prst="roundRect">
            <a:avLst>
              <a:gd name="adj" fmla="val 833"/>
            </a:avLst>
          </a:prstGeom>
          <a:solidFill>
            <a:srgbClr val="FFFFFF"/>
          </a:solidFill>
          <a:ln w="13970">
            <a:solidFill>
              <a:srgbClr val="0D3B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45920"/>
            <a:ext cx="448056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Rolled loop: factor =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2240280"/>
            <a:ext cx="4206240" cy="123444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0; i &lt; 32; i++)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 += x[i] * z[i];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05840" y="3931920"/>
            <a:ext cx="1005840" cy="502920"/>
          </a:xfrm>
          <a:prstGeom prst="roundRect">
            <a:avLst>
              <a:gd name="adj" fmla="val 7273"/>
            </a:avLst>
          </a:prstGeom>
          <a:solidFill>
            <a:srgbClr val="D8EAF6"/>
          </a:solidFill>
          <a:ln w="13970">
            <a:solidFill>
              <a:srgbClr val="0D3B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4050792"/>
            <a:ext cx="1005840" cy="1463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</a:rPr>
              <a:t>32 iters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331720" y="3931920"/>
            <a:ext cx="1005840" cy="502920"/>
          </a:xfrm>
          <a:prstGeom prst="roundRect">
            <a:avLst>
              <a:gd name="adj" fmla="val 7273"/>
            </a:avLst>
          </a:prstGeom>
          <a:solidFill>
            <a:srgbClr val="E6F0DD"/>
          </a:solidFill>
          <a:ln w="13970">
            <a:solidFill>
              <a:srgbClr val="6A994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31720" y="4050792"/>
            <a:ext cx="1005840" cy="1463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</a:rPr>
              <a:t>~128 cycles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0" y="3931920"/>
            <a:ext cx="1005840" cy="502920"/>
          </a:xfrm>
          <a:prstGeom prst="roundRect">
            <a:avLst>
              <a:gd name="adj" fmla="val 7273"/>
            </a:avLst>
          </a:prstGeom>
          <a:solidFill>
            <a:srgbClr val="FDEBD2"/>
          </a:solidFill>
          <a:ln w="13970">
            <a:solidFill>
              <a:srgbClr val="F4A2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0" y="4050792"/>
            <a:ext cx="1005840" cy="1463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</a:rPr>
              <a:t>4 states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0" y="1417320"/>
            <a:ext cx="4937760" cy="4389120"/>
          </a:xfrm>
          <a:prstGeom prst="roundRect">
            <a:avLst>
              <a:gd name="adj" fmla="val 833"/>
            </a:avLst>
          </a:prstGeom>
          <a:solidFill>
            <a:srgbClr val="FFFFFF"/>
          </a:solidFill>
          <a:ln w="13970">
            <a:solidFill>
              <a:srgbClr val="F4A2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75120" y="1645920"/>
            <a:ext cx="448056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Partially unrolled: factor = 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812280" y="2148840"/>
            <a:ext cx="4160520" cy="1508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>
            <a:normAutofit/>
          </a:bodyPr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0; i &lt; 32; i += 2) {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 += x[i] * z[i];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q += x[i+1] * z[i+1];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812280" y="3931920"/>
            <a:ext cx="1005840" cy="502920"/>
          </a:xfrm>
          <a:prstGeom prst="roundRect">
            <a:avLst>
              <a:gd name="adj" fmla="val 7273"/>
            </a:avLst>
          </a:prstGeom>
          <a:solidFill>
            <a:srgbClr val="D8EAF6"/>
          </a:solidFill>
          <a:ln w="13970">
            <a:solidFill>
              <a:srgbClr val="0D3B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4050792"/>
            <a:ext cx="1005840" cy="1463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</a:rPr>
              <a:t>16 iters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38160" y="3931920"/>
            <a:ext cx="1005840" cy="502920"/>
          </a:xfrm>
          <a:prstGeom prst="roundRect">
            <a:avLst>
              <a:gd name="adj" fmla="val 7273"/>
            </a:avLst>
          </a:prstGeom>
          <a:solidFill>
            <a:srgbClr val="E6F0DD"/>
          </a:solidFill>
          <a:ln w="13970">
            <a:solidFill>
              <a:srgbClr val="6A99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38160" y="4050792"/>
            <a:ext cx="1005840" cy="1463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</a:rPr>
              <a:t>~96 cycles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464040" y="3931920"/>
            <a:ext cx="1005840" cy="502920"/>
          </a:xfrm>
          <a:prstGeom prst="roundRect">
            <a:avLst>
              <a:gd name="adj" fmla="val 7273"/>
            </a:avLst>
          </a:prstGeom>
          <a:solidFill>
            <a:srgbClr val="FCE2DC"/>
          </a:solidFill>
          <a:ln w="13970">
            <a:solidFill>
              <a:srgbClr val="E76F5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64040" y="4050792"/>
            <a:ext cx="1005840" cy="14630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</a:rPr>
              <a:t>6 states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715000" y="3154680"/>
            <a:ext cx="685800" cy="0"/>
          </a:xfrm>
          <a:prstGeom prst="line">
            <a:avLst/>
          </a:prstGeom>
          <a:noFill/>
          <a:ln w="30480">
            <a:solidFill>
              <a:srgbClr val="0D3B66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548640" y="6236208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Numbers follow the example and resource constraints reported by Kurra et al.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02920" y="6629400"/>
            <a:ext cx="8046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Loop unrolling in HLS • Controller delay and timing tradeoffs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2025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3B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central tradeoff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Unrolling can reduce cycles, while controller delay generally increases.</a:t>
            </a:r>
            <a:endParaRPr lang="en-US" sz="10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417320"/>
          <a:ext cx="55778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720840" y="1554480"/>
            <a:ext cx="4663440" cy="1051560"/>
          </a:xfrm>
          <a:prstGeom prst="roundRect">
            <a:avLst>
              <a:gd name="adj" fmla="val 3478"/>
            </a:avLst>
          </a:prstGeom>
          <a:solidFill>
            <a:srgbClr val="E6F0DD"/>
          </a:solidFill>
          <a:ln w="13970">
            <a:solidFill>
              <a:srgbClr val="6A994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903720" y="1691640"/>
            <a:ext cx="128016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A994E"/>
                </a:solidFill>
              </a:rPr>
              <a:t>Good news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6903720" y="2057400"/>
            <a:ext cx="4160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F2937"/>
                </a:solidFill>
              </a:rPr>
              <a:t>Fewer loop iterations can reduce latency.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720840" y="2834640"/>
            <a:ext cx="4663440" cy="1051560"/>
          </a:xfrm>
          <a:prstGeom prst="roundRect">
            <a:avLst>
              <a:gd name="adj" fmla="val 3478"/>
            </a:avLst>
          </a:prstGeom>
          <a:solidFill>
            <a:srgbClr val="FCE2DC"/>
          </a:solidFill>
          <a:ln w="13970">
            <a:solidFill>
              <a:srgbClr val="E76F5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903720" y="2971800"/>
            <a:ext cx="128016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76F51"/>
                </a:solidFill>
              </a:rPr>
              <a:t>Bad news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903720" y="3310128"/>
            <a:ext cx="41605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550" dirty="0">
                <a:solidFill>
                  <a:srgbClr val="1F2937"/>
                </a:solidFill>
              </a:rPr>
              <a:t>The FSM, MUXes, and resource control can become slower.</a:t>
            </a:r>
            <a:endParaRPr lang="en-US" sz="1550" dirty="0"/>
          </a:p>
        </p:txBody>
      </p:sp>
      <p:sp>
        <p:nvSpPr>
          <p:cNvPr id="11" name="Shape 8"/>
          <p:cNvSpPr/>
          <p:nvPr/>
        </p:nvSpPr>
        <p:spPr>
          <a:xfrm>
            <a:off x="6720840" y="4114800"/>
            <a:ext cx="4663440" cy="1051560"/>
          </a:xfrm>
          <a:prstGeom prst="roundRect">
            <a:avLst>
              <a:gd name="adj" fmla="val 3478"/>
            </a:avLst>
          </a:prstGeom>
          <a:solidFill>
            <a:srgbClr val="D8EAF6"/>
          </a:solidFill>
          <a:ln w="13970">
            <a:solidFill>
              <a:srgbClr val="0D3B6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03720" y="4251960"/>
            <a:ext cx="128016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D3B66"/>
                </a:solidFill>
              </a:rPr>
              <a:t>Key lesson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903720" y="4590288"/>
            <a:ext cx="41605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D3B66"/>
                </a:solidFill>
              </a:rPr>
              <a:t>The best unroll factor is a timing-aware tradeoff.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48640" y="6236208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Latency and delay trends are simplified from the paper’s example and discussion.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502920" y="6629400"/>
            <a:ext cx="8046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Loop unrolling in HLS • Controller delay and timing tradeoffs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2025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3B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delay increases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The unroll factor changes more than the loop counter.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2057400" y="3108960"/>
            <a:ext cx="86868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4389120" y="3108960"/>
            <a:ext cx="86868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6720840" y="3108960"/>
            <a:ext cx="86868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052560" y="3108960"/>
            <a:ext cx="86868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40080" y="2148840"/>
            <a:ext cx="1417320" cy="1920240"/>
          </a:xfrm>
          <a:prstGeom prst="roundRect">
            <a:avLst>
              <a:gd name="adj" fmla="val 2581"/>
            </a:avLst>
          </a:prstGeom>
          <a:solidFill>
            <a:srgbClr val="D8EAF6"/>
          </a:solidFill>
          <a:ln w="13970">
            <a:solidFill>
              <a:srgbClr val="0D3B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2651760"/>
            <a:ext cx="1005840" cy="7498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Higher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unroll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factor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926080" y="2148840"/>
            <a:ext cx="1463040" cy="1920240"/>
          </a:xfrm>
          <a:prstGeom prst="roundRect">
            <a:avLst>
              <a:gd name="adj" fmla="val 2500"/>
            </a:avLst>
          </a:prstGeom>
          <a:solidFill>
            <a:srgbClr val="FDEBD2"/>
          </a:solidFill>
          <a:ln w="13970">
            <a:solidFill>
              <a:srgbClr val="F4A2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27248" y="2697480"/>
            <a:ext cx="1051560" cy="594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3B66"/>
                </a:solidFill>
              </a:rPr>
              <a:t>More DFG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D3B66"/>
                </a:solidFill>
              </a:rPr>
              <a:t>operations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257800" y="2148840"/>
            <a:ext cx="1463040" cy="1920240"/>
          </a:xfrm>
          <a:prstGeom prst="roundRect">
            <a:avLst>
              <a:gd name="adj" fmla="val 2500"/>
            </a:avLst>
          </a:prstGeom>
          <a:solidFill>
            <a:srgbClr val="ECE3F0"/>
          </a:solidFill>
          <a:ln w="13970">
            <a:solidFill>
              <a:srgbClr val="6D59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68112" y="2651760"/>
            <a:ext cx="1051560" cy="7498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3B66"/>
                </a:solidFill>
              </a:rPr>
              <a:t>More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D3B66"/>
                </a:solidFill>
              </a:rPr>
              <a:t>control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D3B66"/>
                </a:solidFill>
              </a:rPr>
              <a:t>steps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589520" y="2148840"/>
            <a:ext cx="1463040" cy="1920240"/>
          </a:xfrm>
          <a:prstGeom prst="roundRect">
            <a:avLst>
              <a:gd name="adj" fmla="val 2500"/>
            </a:avLst>
          </a:prstGeom>
          <a:solidFill>
            <a:srgbClr val="E6F0DD"/>
          </a:solidFill>
          <a:ln w="13970">
            <a:solidFill>
              <a:srgbClr val="6A99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90688" y="2651760"/>
            <a:ext cx="1051560" cy="7498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3B66"/>
                </a:solidFill>
              </a:rPr>
              <a:t>More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D3B66"/>
                </a:solidFill>
              </a:rPr>
              <a:t>state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D3B66"/>
                </a:solidFill>
              </a:rPr>
              <a:t>bits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921240" y="2148840"/>
            <a:ext cx="1600200" cy="1920240"/>
          </a:xfrm>
          <a:prstGeom prst="roundRect">
            <a:avLst>
              <a:gd name="adj" fmla="val 2286"/>
            </a:avLst>
          </a:prstGeom>
          <a:solidFill>
            <a:srgbClr val="FCE2DC"/>
          </a:solidFill>
          <a:ln w="13970">
            <a:solidFill>
              <a:srgbClr val="E76F5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104120" y="2606040"/>
            <a:ext cx="1234440" cy="84124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6F51"/>
                </a:solidFill>
              </a:rPr>
              <a:t>Longer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76F51"/>
                </a:solidFill>
              </a:rPr>
              <a:t>FSM / MUX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E76F51"/>
                </a:solidFill>
              </a:rPr>
              <a:t>delay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" y="4800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3B66"/>
                </a:solidFill>
              </a:rPr>
              <a:t>Simplified delay model: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383280" y="4773168"/>
            <a:ext cx="7818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D3B66"/>
                </a:solidFill>
              </a:rPr>
              <a:t>Delay = A · log(#operations) · (#state bits)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548640" y="6236208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Kurra et al. use high-level operation/state information for fast controller-delay estimation.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02920" y="6629400"/>
            <a:ext cx="8046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Loop unrolling in HLS • Controller delay and timing tradeoffs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2025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3B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paper’s solution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Estimate delay early, prune the search space, then verify promising candidates.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2560320" y="2971800"/>
            <a:ext cx="594360" cy="0"/>
          </a:xfrm>
          <a:prstGeom prst="line">
            <a:avLst/>
          </a:prstGeom>
          <a:noFill/>
          <a:ln w="25400">
            <a:solidFill>
              <a:srgbClr val="0D3B66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5257800" y="2971800"/>
            <a:ext cx="594360" cy="0"/>
          </a:xfrm>
          <a:prstGeom prst="line">
            <a:avLst/>
          </a:prstGeom>
          <a:noFill/>
          <a:ln w="25400">
            <a:solidFill>
              <a:srgbClr val="0D3B66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909560" y="2971800"/>
            <a:ext cx="594360" cy="0"/>
          </a:xfrm>
          <a:prstGeom prst="line">
            <a:avLst/>
          </a:prstGeom>
          <a:noFill/>
          <a:ln w="25400">
            <a:solidFill>
              <a:srgbClr val="0D3B66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594360" y="1874520"/>
            <a:ext cx="1965960" cy="2194560"/>
          </a:xfrm>
          <a:prstGeom prst="roundRect">
            <a:avLst>
              <a:gd name="adj" fmla="val 1860"/>
            </a:avLst>
          </a:prstGeom>
          <a:solidFill>
            <a:srgbClr val="D8EAF6"/>
          </a:solidFill>
          <a:ln w="13970">
            <a:solidFill>
              <a:srgbClr val="0D3B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423160"/>
            <a:ext cx="141732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1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Candidate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unroll factors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154680" y="1874520"/>
            <a:ext cx="2103120" cy="2194560"/>
          </a:xfrm>
          <a:prstGeom prst="roundRect">
            <a:avLst>
              <a:gd name="adj" fmla="val 1739"/>
            </a:avLst>
          </a:prstGeom>
          <a:solidFill>
            <a:srgbClr val="FDEBD2"/>
          </a:solidFill>
          <a:ln w="13970">
            <a:solidFill>
              <a:srgbClr val="F4A2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56432" y="2423160"/>
            <a:ext cx="150876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2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Estimate FSM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delay quickly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852160" y="1874520"/>
            <a:ext cx="2057400" cy="2194560"/>
          </a:xfrm>
          <a:prstGeom prst="roundRect">
            <a:avLst>
              <a:gd name="adj" fmla="val 1778"/>
            </a:avLst>
          </a:prstGeom>
          <a:solidFill>
            <a:srgbClr val="E6F0DD"/>
          </a:solidFill>
          <a:ln w="13970">
            <a:solidFill>
              <a:srgbClr val="6A99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44768" y="2423160"/>
            <a:ext cx="146304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3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Select by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priority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8503920" y="1874520"/>
            <a:ext cx="2240280" cy="2194560"/>
          </a:xfrm>
          <a:prstGeom prst="roundRect">
            <a:avLst>
              <a:gd name="adj" fmla="val 1667"/>
            </a:avLst>
          </a:prstGeom>
          <a:solidFill>
            <a:srgbClr val="FCE2DC"/>
          </a:solidFill>
          <a:ln w="13970">
            <a:solidFill>
              <a:srgbClr val="E76F5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0" y="2423160"/>
            <a:ext cx="169164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4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Synthesize only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final candidates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287000" cy="594360"/>
          </a:xfrm>
          <a:prstGeom prst="rect">
            <a:avLst/>
          </a:prstGeom>
          <a:solidFill>
            <a:srgbClr val="0D3B66"/>
          </a:solidFill>
          <a:ln w="12700">
            <a:solidFill>
              <a:srgbClr val="0D3B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5102352"/>
            <a:ext cx="9738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Priority = latency reduction / additional FSM delay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548640" y="6236208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This is a heuristic design-space exploration method, not an exhaustive search.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629400"/>
            <a:ext cx="8046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Loop unrolling in HLS • Controller delay and timing tradeoffs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2025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3B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not just synthesize everything?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Design-space exploration grows quickly when multiple loops are involved.</a:t>
            </a:r>
            <a:endParaRPr lang="en-US" sz="10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85800" y="1417320"/>
          <a:ext cx="525780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46520" y="1554480"/>
            <a:ext cx="4754880" cy="960120"/>
          </a:xfrm>
          <a:prstGeom prst="roundRect">
            <a:avLst>
              <a:gd name="adj" fmla="val 3810"/>
            </a:avLst>
          </a:prstGeom>
          <a:solidFill>
            <a:srgbClr val="D8EAF6"/>
          </a:solidFill>
          <a:ln w="13970">
            <a:solidFill>
              <a:srgbClr val="0D3B6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675120" y="1719072"/>
            <a:ext cx="155448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D3B66"/>
                </a:solidFill>
              </a:rPr>
              <a:t>Pareto factors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6675120" y="2039112"/>
            <a:ext cx="4160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</a:rPr>
              <a:t>Ignore factors with worse latency and worse delay.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46520" y="2743200"/>
            <a:ext cx="4754880" cy="960120"/>
          </a:xfrm>
          <a:prstGeom prst="roundRect">
            <a:avLst>
              <a:gd name="adj" fmla="val 3810"/>
            </a:avLst>
          </a:prstGeom>
          <a:solidFill>
            <a:srgbClr val="FDEBD2"/>
          </a:solidFill>
          <a:ln w="13970">
            <a:solidFill>
              <a:srgbClr val="F4A26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75120" y="2907792"/>
            <a:ext cx="201168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D3B66"/>
                </a:solidFill>
              </a:rPr>
              <a:t>Threshold factors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6675120" y="3227832"/>
            <a:ext cx="4160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</a:rPr>
              <a:t>Small factors often give most of the latency benefit.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46520" y="3931920"/>
            <a:ext cx="4754880" cy="960120"/>
          </a:xfrm>
          <a:prstGeom prst="roundRect">
            <a:avLst>
              <a:gd name="adj" fmla="val 3810"/>
            </a:avLst>
          </a:prstGeom>
          <a:solidFill>
            <a:srgbClr val="E6F0DD"/>
          </a:solidFill>
          <a:ln w="13970">
            <a:solidFill>
              <a:srgbClr val="6A994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75120" y="4096512"/>
            <a:ext cx="201168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D3B66"/>
                </a:solidFill>
              </a:rPr>
              <a:t>Priority heuristic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675120" y="4416552"/>
            <a:ext cx="416052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7"/>
                </a:solidFill>
              </a:rPr>
              <a:t>Spend delay budget where it gives the most speedup.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48640" y="6236208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The original paper reports large savings versus exhaustive synthesis for benchmark exploration.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502920" y="6629400"/>
            <a:ext cx="8046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Loop unrolling in HLS • Controller delay and timing tradeoffs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2025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3B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Scientific context and tools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Theory comes from compiler/HLS research; implementation can use modern HLS tools.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3886200" y="2651760"/>
            <a:ext cx="68580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3886200" y="3840480"/>
            <a:ext cx="68580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452360" y="3246120"/>
            <a:ext cx="685800" cy="0"/>
          </a:xfrm>
          <a:prstGeom prst="line">
            <a:avLst/>
          </a:prstGeom>
          <a:noFill/>
          <a:ln w="2540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31520" y="1965960"/>
            <a:ext cx="3154680" cy="1051560"/>
          </a:xfrm>
          <a:prstGeom prst="roundRect">
            <a:avLst>
              <a:gd name="adj" fmla="val 3478"/>
            </a:avLst>
          </a:prstGeom>
          <a:solidFill>
            <a:srgbClr val="D8EAF6"/>
          </a:solidFill>
          <a:ln w="13970">
            <a:solidFill>
              <a:srgbClr val="0D3B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130552"/>
            <a:ext cx="26974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Compiler optimization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2560320"/>
            <a:ext cx="269748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Sarkar, Carr &amp; Kennedy, Koseki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3291840"/>
            <a:ext cx="3154680" cy="1051560"/>
          </a:xfrm>
          <a:prstGeom prst="roundRect">
            <a:avLst>
              <a:gd name="adj" fmla="val 3478"/>
            </a:avLst>
          </a:prstGeom>
          <a:solidFill>
            <a:srgbClr val="ECE3F0"/>
          </a:solidFill>
          <a:ln w="13970">
            <a:solidFill>
              <a:srgbClr val="6D59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456432"/>
            <a:ext cx="26974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HLS timing estimation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0120" y="3886200"/>
            <a:ext cx="269748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Gupta et al., controller-delay modeling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560320"/>
            <a:ext cx="2880360" cy="1371600"/>
          </a:xfrm>
          <a:prstGeom prst="roundRect">
            <a:avLst>
              <a:gd name="adj" fmla="val 2667"/>
            </a:avLst>
          </a:prstGeom>
          <a:solidFill>
            <a:srgbClr val="FDEBD2"/>
          </a:solidFill>
          <a:ln w="13970">
            <a:solidFill>
              <a:srgbClr val="F4A2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56048" y="2880360"/>
            <a:ext cx="210312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3B66"/>
                </a:solidFill>
              </a:rPr>
              <a:t>Loop unrolling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D3B66"/>
                </a:solidFill>
              </a:rPr>
              <a:t>in HLS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138160" y="1417320"/>
            <a:ext cx="3246120" cy="77724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3970">
            <a:solidFill>
              <a:srgbClr val="0D3B6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1600200"/>
            <a:ext cx="269748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D3B66"/>
                </a:solidFill>
              </a:rPr>
              <a:t>AMD Vitis HLS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138160" y="2423160"/>
            <a:ext cx="3246120" cy="77724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3970">
            <a:solidFill>
              <a:srgbClr val="0D3B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0" y="2606040"/>
            <a:ext cx="269748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D3B66"/>
                </a:solidFill>
              </a:rPr>
              <a:t>Intel oneAPI FPGA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8138160" y="3429000"/>
            <a:ext cx="3246120" cy="77724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3970">
            <a:solidFill>
              <a:srgbClr val="0D3B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3611880"/>
            <a:ext cx="269748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D3B66"/>
                </a:solidFill>
              </a:rPr>
              <a:t>Bambu HLS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138160" y="4434840"/>
            <a:ext cx="3246120" cy="77724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3970">
            <a:solidFill>
              <a:srgbClr val="0D3B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0" y="4617720"/>
            <a:ext cx="269748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D3B66"/>
                </a:solidFill>
              </a:rPr>
              <a:t>LegUp HLS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548640" y="6236208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Tool references support the proposed implementation, not the main theoretical claim.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02920" y="6629400"/>
            <a:ext cx="8046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Loop unrolling in HLS • Controller delay and timing tradeoffs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2025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3B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Student implementation plan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Low-budget proof of application: Python model first, HLS optional.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2331720" y="3063240"/>
            <a:ext cx="731520" cy="0"/>
          </a:xfrm>
          <a:prstGeom prst="line">
            <a:avLst/>
          </a:prstGeom>
          <a:noFill/>
          <a:ln w="25400">
            <a:solidFill>
              <a:srgbClr val="0D3B66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5074920" y="3063240"/>
            <a:ext cx="731520" cy="0"/>
          </a:xfrm>
          <a:prstGeom prst="line">
            <a:avLst/>
          </a:prstGeom>
          <a:noFill/>
          <a:ln w="25400">
            <a:solidFill>
              <a:srgbClr val="0D3B66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818120" y="3063240"/>
            <a:ext cx="731520" cy="0"/>
          </a:xfrm>
          <a:prstGeom prst="line">
            <a:avLst/>
          </a:prstGeom>
          <a:noFill/>
          <a:ln w="25400">
            <a:solidFill>
              <a:srgbClr val="0D3B66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594360" y="2011680"/>
            <a:ext cx="1737360" cy="2103120"/>
          </a:xfrm>
          <a:prstGeom prst="roundRect">
            <a:avLst>
              <a:gd name="adj" fmla="val 2105"/>
            </a:avLst>
          </a:prstGeom>
          <a:solidFill>
            <a:srgbClr val="D8EAF6"/>
          </a:solidFill>
          <a:ln w="13970">
            <a:solidFill>
              <a:srgbClr val="0D3B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578608"/>
            <a:ext cx="1188720" cy="7498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Dot-product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loop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N = 32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063240" y="2011680"/>
            <a:ext cx="2011680" cy="2103120"/>
          </a:xfrm>
          <a:prstGeom prst="roundRect">
            <a:avLst>
              <a:gd name="adj" fmla="val 1818"/>
            </a:avLst>
          </a:prstGeom>
          <a:solidFill>
            <a:srgbClr val="FDEBD2"/>
          </a:solidFill>
          <a:ln w="13970">
            <a:solidFill>
              <a:srgbClr val="F4A2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01568" y="2560320"/>
            <a:ext cx="1353312" cy="7498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Test factors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1, 2, 4, 8,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16, 32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806440" y="2011680"/>
            <a:ext cx="2011680" cy="2103120"/>
          </a:xfrm>
          <a:prstGeom prst="roundRect">
            <a:avLst>
              <a:gd name="adj" fmla="val 1818"/>
            </a:avLst>
          </a:prstGeom>
          <a:solidFill>
            <a:srgbClr val="E6F0DD"/>
          </a:solidFill>
          <a:ln w="13970">
            <a:solidFill>
              <a:srgbClr val="6A99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80760" y="2514600"/>
            <a:ext cx="146304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D3B66"/>
                </a:solidFill>
              </a:rPr>
              <a:t>Estimate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0D3B66"/>
                </a:solidFill>
              </a:rPr>
              <a:t>latency and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0D3B66"/>
                </a:solidFill>
              </a:rPr>
              <a:t>controller delay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549640" y="2011680"/>
            <a:ext cx="2148840" cy="2103120"/>
          </a:xfrm>
          <a:prstGeom prst="roundRect">
            <a:avLst>
              <a:gd name="adj" fmla="val 1739"/>
            </a:avLst>
          </a:prstGeom>
          <a:solidFill>
            <a:srgbClr val="FCE2DC"/>
          </a:solidFill>
          <a:ln w="13970">
            <a:solidFill>
              <a:srgbClr val="E76F5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69680" y="2514600"/>
            <a:ext cx="150876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Generate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tables and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0D3B66"/>
                </a:solidFill>
              </a:rPr>
              <a:t>graphs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1005840" y="4800600"/>
            <a:ext cx="438912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3970">
            <a:solidFill>
              <a:srgbClr val="6B72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0" y="4974336"/>
            <a:ext cx="402336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D3B66"/>
                </a:solidFill>
              </a:rPr>
              <a:t>Minimum: Python + CSV + 2 graphs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629400" y="4800600"/>
            <a:ext cx="438912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3970">
            <a:solidFill>
              <a:srgbClr val="6B728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12280" y="4974336"/>
            <a:ext cx="4023360" cy="22860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D3B66"/>
                </a:solidFill>
              </a:rPr>
              <a:t>Extension: Vitis HLS synthesis reports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48640" y="6236208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The implementation is planned honestly as a student-level demonstration, not as a full ASIC reproduction.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502920" y="6629400"/>
            <a:ext cx="8046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Loop unrolling in HLS • Controller delay and timing tradeoffs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2025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3B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data I will show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The prototype should produce evidence I can explain in the final paper and presentation.</a:t>
            </a:r>
            <a:endParaRPr lang="en-US" sz="10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85800" y="1508760"/>
          <a:ext cx="48920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629400" y="1508760"/>
          <a:ext cx="48920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Shape 2"/>
          <p:cNvSpPr/>
          <p:nvPr/>
        </p:nvSpPr>
        <p:spPr>
          <a:xfrm>
            <a:off x="868680" y="5166360"/>
            <a:ext cx="4526280" cy="530352"/>
          </a:xfrm>
          <a:prstGeom prst="roundRect">
            <a:avLst>
              <a:gd name="adj" fmla="val 6897"/>
            </a:avLst>
          </a:prstGeom>
          <a:solidFill>
            <a:srgbClr val="E6F0DD"/>
          </a:solidFill>
          <a:ln w="13970">
            <a:solidFill>
              <a:srgbClr val="6A994E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1051560" y="5312664"/>
            <a:ext cx="416052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A994E"/>
                </a:solidFill>
              </a:rPr>
              <a:t>Expected: latency decreases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6812280" y="5166360"/>
            <a:ext cx="4526280" cy="530352"/>
          </a:xfrm>
          <a:prstGeom prst="roundRect">
            <a:avLst>
              <a:gd name="adj" fmla="val 6897"/>
            </a:avLst>
          </a:prstGeom>
          <a:solidFill>
            <a:srgbClr val="FCE2DC"/>
          </a:solidFill>
          <a:ln w="13970">
            <a:solidFill>
              <a:srgbClr val="E76F5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995160" y="5312664"/>
            <a:ext cx="4160520" cy="1828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76F51"/>
                </a:solidFill>
              </a:rPr>
              <a:t>Expected: controller complexity increases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548640" y="6236208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Example trend shown before running the prototype; final paper will use the generated table and graphs.</a:t>
            </a:r>
            <a:endParaRPr lang="en-US" sz="750" dirty="0"/>
          </a:p>
        </p:txBody>
      </p:sp>
      <p:sp>
        <p:nvSpPr>
          <p:cNvPr id="11" name="Text 7"/>
          <p:cNvSpPr/>
          <p:nvPr/>
        </p:nvSpPr>
        <p:spPr>
          <a:xfrm>
            <a:off x="502920" y="6629400"/>
            <a:ext cx="8046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Loop unrolling in HLS • Controller delay and timing tradeoffs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2025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3B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Critical evaluation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Useful contribution, but not directly transferable without calibration.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685800" y="1417320"/>
            <a:ext cx="3474720" cy="4251960"/>
          </a:xfrm>
          <a:prstGeom prst="roundRect">
            <a:avLst>
              <a:gd name="adj" fmla="val 1053"/>
            </a:avLst>
          </a:prstGeom>
          <a:solidFill>
            <a:srgbClr val="E6F0DD"/>
          </a:solidFill>
          <a:ln w="13970">
            <a:solidFill>
              <a:srgbClr val="6A99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691640"/>
            <a:ext cx="29260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A994E"/>
                </a:solidFill>
              </a:rPr>
              <a:t>Strengths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2834640" cy="2194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500" dirty="0">
                <a:solidFill>
                  <a:srgbClr val="1F2937"/>
                </a:solidFill>
              </a:rPr>
              <a:t>connects compiler optimization to hardware timing</a:t>
            </a:r>
            <a:endParaRPr lang="en-US" sz="1500" dirty="0"/>
          </a:p>
          <a:p>
            <a:r>
              <a:rPr lang="en-US" sz="1500" dirty="0">
                <a:solidFill>
                  <a:srgbClr val="1F2937"/>
                </a:solidFill>
              </a:rPr>
              <a:t>avoids exhaustive synthesis</a:t>
            </a:r>
            <a:endParaRPr lang="en-US" sz="1500" dirty="0"/>
          </a:p>
          <a:p>
            <a:r>
              <a:rPr lang="en-US" sz="1500" dirty="0">
                <a:solidFill>
                  <a:srgbClr val="1F2937"/>
                </a:solidFill>
              </a:rPr>
              <a:t>uses high-level estimates for early decisions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34840" y="1417320"/>
            <a:ext cx="3474720" cy="4251960"/>
          </a:xfrm>
          <a:prstGeom prst="roundRect">
            <a:avLst>
              <a:gd name="adj" fmla="val 1053"/>
            </a:avLst>
          </a:prstGeom>
          <a:solidFill>
            <a:srgbClr val="FCE2DC"/>
          </a:solidFill>
          <a:ln w="13970">
            <a:solidFill>
              <a:srgbClr val="E76F5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09160" y="1691640"/>
            <a:ext cx="29260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76F51"/>
                </a:solidFill>
              </a:rPr>
              <a:t>Limitations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709160" y="2331720"/>
            <a:ext cx="2834640" cy="2194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500" dirty="0">
                <a:solidFill>
                  <a:srgbClr val="1F2937"/>
                </a:solidFill>
              </a:rPr>
              <a:t>delay constants depend on target technology</a:t>
            </a:r>
            <a:endParaRPr lang="en-US" sz="1500" dirty="0"/>
          </a:p>
          <a:p>
            <a:r>
              <a:rPr lang="en-US" sz="1500" dirty="0">
                <a:solidFill>
                  <a:srgbClr val="1F2937"/>
                </a:solidFill>
              </a:rPr>
              <a:t>modern HLS tools may hide pure controller delay</a:t>
            </a:r>
            <a:endParaRPr lang="en-US" sz="1500" dirty="0"/>
          </a:p>
          <a:p>
            <a:r>
              <a:rPr lang="en-US" sz="1500" dirty="0">
                <a:solidFill>
                  <a:srgbClr val="1F2937"/>
                </a:solidFill>
              </a:rPr>
              <a:t>routing/memory effects also influence timing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83880" y="1417320"/>
            <a:ext cx="3246120" cy="4251960"/>
          </a:xfrm>
          <a:prstGeom prst="roundRect">
            <a:avLst>
              <a:gd name="adj" fmla="val 1127"/>
            </a:avLst>
          </a:prstGeom>
          <a:solidFill>
            <a:srgbClr val="D8EAF6"/>
          </a:solidFill>
          <a:ln w="13970">
            <a:solidFill>
              <a:srgbClr val="0D3B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58200" y="1691640"/>
            <a:ext cx="2697480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3B66"/>
                </a:solidFill>
              </a:rPr>
              <a:t>Transfer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458200" y="2331720"/>
            <a:ext cx="2606040" cy="2194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500" dirty="0">
                <a:solidFill>
                  <a:srgbClr val="1F2937"/>
                </a:solidFill>
              </a:rPr>
              <a:t>best for loop-based accelerators</a:t>
            </a:r>
            <a:endParaRPr lang="en-US" sz="1500" dirty="0"/>
          </a:p>
          <a:p>
            <a:r>
              <a:rPr lang="en-US" sz="1500" dirty="0">
                <a:solidFill>
                  <a:srgbClr val="1F2937"/>
                </a:solidFill>
              </a:rPr>
              <a:t>student prototype demonstrates trend, not exact ASIC timing</a:t>
            </a:r>
            <a:endParaRPr lang="en-US" sz="1500" dirty="0"/>
          </a:p>
          <a:p>
            <a:r>
              <a:rPr lang="en-US" sz="1500" dirty="0">
                <a:solidFill>
                  <a:srgbClr val="1F2937"/>
                </a:solidFill>
              </a:rPr>
              <a:t>final work should separate facts from estimates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6236208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Critical assessment based on differences between the original synthesis flow and modern student-accessible tools.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502920" y="6629400"/>
            <a:ext cx="8046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Loop unrolling in HLS • Controller delay and timing tradeoffs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2025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3B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Loop unrolling is a tradeoff, not a magic performance switch.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868680" y="1874520"/>
            <a:ext cx="2103120" cy="1828800"/>
          </a:xfrm>
          <a:prstGeom prst="hexagon">
            <a:avLst/>
          </a:prstGeom>
          <a:solidFill>
            <a:srgbClr val="E6F0DD"/>
          </a:solidFill>
          <a:ln w="15240">
            <a:solidFill>
              <a:srgbClr val="6A99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25296" y="2423160"/>
            <a:ext cx="141732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6A994E"/>
                </a:solidFill>
              </a:rPr>
              <a:t>Latency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6A994E"/>
                </a:solidFill>
              </a:rPr>
              <a:t>improves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983480" y="1874520"/>
            <a:ext cx="2103120" cy="1828800"/>
          </a:xfrm>
          <a:prstGeom prst="hexagon">
            <a:avLst/>
          </a:prstGeom>
          <a:solidFill>
            <a:srgbClr val="FCE2DC"/>
          </a:solidFill>
          <a:ln w="15240">
            <a:solidFill>
              <a:srgbClr val="E76F5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30952" y="2423160"/>
            <a:ext cx="141732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76F51"/>
                </a:solidFill>
              </a:rPr>
              <a:t>Controller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E76F51"/>
                </a:solidFill>
              </a:rPr>
              <a:t>grows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052560" y="1874520"/>
            <a:ext cx="2103120" cy="1828800"/>
          </a:xfrm>
          <a:prstGeom prst="hexagon">
            <a:avLst/>
          </a:prstGeom>
          <a:solidFill>
            <a:srgbClr val="D8EAF6"/>
          </a:solidFill>
          <a:ln w="15240">
            <a:solidFill>
              <a:srgbClr val="0D3B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63456" y="2423160"/>
            <a:ext cx="150876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D3B66"/>
                </a:solidFill>
              </a:rPr>
              <a:t>Timing-aware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>
                <a:solidFill>
                  <a:srgbClr val="0D3B66"/>
                </a:solidFill>
              </a:rPr>
              <a:t>choice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2971800" y="2788920"/>
            <a:ext cx="1965960" cy="0"/>
          </a:xfrm>
          <a:prstGeom prst="line">
            <a:avLst/>
          </a:prstGeom>
          <a:noFill/>
          <a:ln w="3048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086600" y="2788920"/>
            <a:ext cx="1920240" cy="0"/>
          </a:xfrm>
          <a:prstGeom prst="line">
            <a:avLst/>
          </a:prstGeom>
          <a:noFill/>
          <a:ln w="3048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874520" y="4754880"/>
            <a:ext cx="8412480" cy="685800"/>
          </a:xfrm>
          <a:prstGeom prst="roundRect">
            <a:avLst>
              <a:gd name="adj" fmla="val 5333"/>
            </a:avLst>
          </a:prstGeom>
          <a:solidFill>
            <a:srgbClr val="0D3B66"/>
          </a:solidFill>
          <a:ln w="13970">
            <a:solidFill>
              <a:srgbClr val="0D3B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148840" y="4919472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Best unroll factor = performance benefit within timing/resource budget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48640" y="6236208"/>
            <a:ext cx="10972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Next step: run the Python prototype and replace placeholder trends with measured/generated results.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502920" y="6629400"/>
            <a:ext cx="8046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Loop unrolling in HLS • Controller delay and timing tradeoffs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2025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3B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References used in the paper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Main theory reference plus related work and implementation/tool references.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22960" y="1325880"/>
            <a:ext cx="10607040" cy="3886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r>
              <a:rPr lang="en-US" sz="1500" dirty="0">
                <a:solidFill>
                  <a:srgbClr val="1F2937"/>
                </a:solidFill>
              </a:rPr>
              <a:t>Kurra, Singh &amp; Panda — Loop Unrolling and Controller Delay in HLS, DATE 2007</a:t>
            </a:r>
            <a:endParaRPr lang="en-US" sz="1500" dirty="0"/>
          </a:p>
          <a:p>
            <a:r>
              <a:rPr lang="en-US" sz="1500" dirty="0">
                <a:solidFill>
                  <a:srgbClr val="1F2937"/>
                </a:solidFill>
              </a:rPr>
              <a:t>Sarkar 2000; Carr &amp; Kennedy 1994; Koseki et al. 1997 — compiler loop-unrolling context</a:t>
            </a:r>
            <a:endParaRPr lang="en-US" sz="1500" dirty="0"/>
          </a:p>
          <a:p>
            <a:r>
              <a:rPr lang="en-US" sz="1500" dirty="0">
                <a:solidFill>
                  <a:srgbClr val="1F2937"/>
                </a:solidFill>
              </a:rPr>
              <a:t>Gupta, Gupta &amp; Panda 2006 — rapid estimation of control delay</a:t>
            </a:r>
            <a:endParaRPr lang="en-US" sz="1500" dirty="0"/>
          </a:p>
          <a:p>
            <a:r>
              <a:rPr lang="en-US" sz="1500" dirty="0">
                <a:solidFill>
                  <a:srgbClr val="1F2937"/>
                </a:solidFill>
              </a:rPr>
              <a:t>Allan et al. 1995 — software pipelining background</a:t>
            </a:r>
            <a:endParaRPr lang="en-US" sz="1500" dirty="0"/>
          </a:p>
          <a:p>
            <a:r>
              <a:rPr lang="en-US" sz="1500" dirty="0">
                <a:solidFill>
                  <a:srgbClr val="1F2937"/>
                </a:solidFill>
              </a:rPr>
              <a:t>AMD Vitis HLS User Guide; Intel oneAPI FPGA Handbook — implementation tool context</a:t>
            </a:r>
            <a:endParaRPr lang="en-US" sz="1500" dirty="0"/>
          </a:p>
          <a:p>
            <a:r>
              <a:rPr lang="en-US" sz="1500" dirty="0">
                <a:solidFill>
                  <a:srgbClr val="1F2937"/>
                </a:solidFill>
              </a:rPr>
              <a:t>Bambu HLS Framework; LegUp 2021.1 Documentation — accessible/academic HLS alternatives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60120" y="5577840"/>
            <a:ext cx="10241280" cy="438912"/>
          </a:xfrm>
          <a:prstGeom prst="roundRect">
            <a:avLst>
              <a:gd name="adj" fmla="val 8333"/>
            </a:avLst>
          </a:prstGeom>
          <a:solidFill>
            <a:srgbClr val="FDEBD2"/>
          </a:solidFill>
          <a:ln w="13970">
            <a:solidFill>
              <a:srgbClr val="F4A2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5696712"/>
            <a:ext cx="9966960" cy="1645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D3B66"/>
                </a:solidFill>
              </a:rPr>
              <a:t>Tool references support the implementation section; the core scientific argument stays centered on Kurra et al.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02920" y="6629400"/>
            <a:ext cx="8046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</a:rPr>
              <a:t>References • Loop unrolling in HLS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620256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Hochschule Hamm-Lippstadt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Impact of Loop Unrolling on Controller Delay in High-Level Synthesis</dc:title>
  <dc:subject>Loop Unrolling and Controller Delay in HLS</dc:subject>
  <dc:creator>Christian Percival</dc:creator>
  <cp:lastModifiedBy>Christian Percival</cp:lastModifiedBy>
  <cp:revision>1</cp:revision>
  <dcterms:created xsi:type="dcterms:W3CDTF">2026-06-13T12:12:41Z</dcterms:created>
  <dcterms:modified xsi:type="dcterms:W3CDTF">2026-06-13T12:12:41Z</dcterms:modified>
</cp:coreProperties>
</file>