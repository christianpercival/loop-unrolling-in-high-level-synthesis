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59" r:id="rId4"/>
    <p:sldId id="27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33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latency (ns)</c:v>
                </c:pt>
              </c:strCache>
            </c:strRef>
          </c:tx>
          <c:spPr>
            <a:ln w="31750" cap="flat">
              <a:solidFill>
                <a:srgbClr val="C050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0504D"/>
              </a:solidFill>
              <a:ln w="9525" cap="flat">
                <a:solidFill>
                  <a:srgbClr val="C050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</c:v>
                </c:pt>
                <c:pt idx="1">
                  <c:v>210</c:v>
                </c:pt>
                <c:pt idx="2">
                  <c:v>220</c:v>
                </c:pt>
                <c:pt idx="3">
                  <c:v>220</c:v>
                </c:pt>
                <c:pt idx="4">
                  <c:v>220</c:v>
                </c:pt>
                <c:pt idx="5">
                  <c:v>220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786-4E71-A3A7-83DAB727FCC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DSP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6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345-421D-A5D4-19ADA75251C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LUT / 100</c:v>
                </c:pt>
              </c:strCache>
            </c:strRef>
          </c:tx>
          <c:spPr>
            <a:solidFill>
              <a:srgbClr val="4F81BD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</c:v>
                </c:pt>
                <c:pt idx="1">
                  <c:v>2</c:v>
                </c:pt>
                <c:pt idx="2">
                  <c:v>5</c:v>
                </c:pt>
                <c:pt idx="3">
                  <c:v>6</c:v>
                </c:pt>
                <c:pt idx="4">
                  <c:v>8</c:v>
                </c:pt>
                <c:pt idx="5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345-421D-A5D4-19ADA75251C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FF / 100</c:v>
                </c:pt>
              </c:strCache>
            </c:strRef>
          </c:tx>
          <c:spPr>
            <a:solidFill>
              <a:srgbClr val="9BBB59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</c:v>
                </c:pt>
                <c:pt idx="1">
                  <c:v>6</c:v>
                </c:pt>
                <c:pt idx="2">
                  <c:v>8</c:v>
                </c:pt>
                <c:pt idx="3">
                  <c:v>8</c:v>
                </c:pt>
                <c:pt idx="4">
                  <c:v>10</c:v>
                </c:pt>
                <c:pt idx="5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345-421D-A5D4-19ADA75251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Normal memory</c:v>
                </c:pt>
              </c:strCache>
            </c:strRef>
          </c:tx>
          <c:spPr>
            <a:ln w="31750" cap="flat">
              <a:solidFill>
                <a:srgbClr val="C050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0504D"/>
              </a:solidFill>
              <a:ln w="9525" cap="flat">
                <a:solidFill>
                  <a:srgbClr val="C050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</c:v>
                </c:pt>
                <c:pt idx="1">
                  <c:v>210</c:v>
                </c:pt>
                <c:pt idx="2">
                  <c:v>220</c:v>
                </c:pt>
                <c:pt idx="3">
                  <c:v>220</c:v>
                </c:pt>
                <c:pt idx="4">
                  <c:v>220</c:v>
                </c:pt>
                <c:pt idx="5">
                  <c:v>220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4EF-433A-8F49-31EE7C4E37F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Partitioned memory</c:v>
                </c:pt>
              </c:strCache>
            </c:strRef>
          </c:tx>
          <c:spPr>
            <a:ln w="31750" cap="flat">
              <a:solidFill>
                <a:srgbClr val="4F81B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4F81BD"/>
              </a:solidFill>
              <a:ln w="9525" cap="flat">
                <a:solidFill>
                  <a:srgbClr val="4F81B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2">
                  <c:v>130</c:v>
                </c:pt>
                <c:pt idx="3">
                  <c:v>90</c:v>
                </c:pt>
                <c:pt idx="4">
                  <c:v>80</c:v>
                </c:pt>
                <c:pt idx="5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4EF-433A-8F49-31EE7C4E37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DSP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4</c:v>
                </c:pt>
                <c:pt idx="1">
                  <c:v>8</c:v>
                </c:pt>
                <c:pt idx="2">
                  <c:v>16</c:v>
                </c:pt>
                <c:pt idx="3">
                  <c:v>32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24</c:v>
                </c:pt>
                <c:pt idx="2">
                  <c:v>48</c:v>
                </c:pt>
                <c:pt idx="3">
                  <c:v>60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B53-4739-8D13-18D7ACE843A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LUT / 100</c:v>
                </c:pt>
              </c:strCache>
            </c:strRef>
          </c:tx>
          <c:spPr>
            <a:solidFill>
              <a:srgbClr val="4F81BD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4</c:v>
                </c:pt>
                <c:pt idx="1">
                  <c:v>8</c:v>
                </c:pt>
                <c:pt idx="2">
                  <c:v>16</c:v>
                </c:pt>
                <c:pt idx="3">
                  <c:v>32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</c:v>
                </c:pt>
                <c:pt idx="1">
                  <c:v>10</c:v>
                </c:pt>
                <c:pt idx="2">
                  <c:v>25</c:v>
                </c:pt>
                <c:pt idx="3">
                  <c:v>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B53-4739-8D13-18D7ACE843A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FF / 100</c:v>
                </c:pt>
              </c:strCache>
            </c:strRef>
          </c:tx>
          <c:spPr>
            <a:solidFill>
              <a:srgbClr val="9BBB59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4</c:v>
                </c:pt>
                <c:pt idx="1">
                  <c:v>8</c:v>
                </c:pt>
                <c:pt idx="2">
                  <c:v>16</c:v>
                </c:pt>
                <c:pt idx="3">
                  <c:v>32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12</c:v>
                </c:pt>
                <c:pt idx="1">
                  <c:v>22</c:v>
                </c:pt>
                <c:pt idx="2">
                  <c:v>45</c:v>
                </c:pt>
                <c:pt idx="3">
                  <c:v>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B53-4739-8D13-18D7ACE843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05655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topic: loop unrolling as a common optimization, but in HLS it changes generated hardware, not just software code. Mention that the deck includes your own Vitis HLS experiment and Vivado RTL schematic visualizations.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basic idea using code only. Do not yet go deep into hardware. Then transition: in HLS, this high-level transformation has physical consequences.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Define HLS and the terms that appear in the Vitis reports. This makes the later experimental slides understandable.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connects your experiment back to the assigned paper. The implementation measures resources and timing as indirect evidence because modern HLS tools may not isolate pure controller delay.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your own prototype. Emphasize that you used C simulation for correctness first, then C synthesis reports for latency/resources/timing.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II: initiation interval, how often a new loop iteration can start. The result shows that more unrolling is not always faster if II increases.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partitioning x and z breaks the memory bottleneck, allowing II to stay low and more DSPs to be used. But resources grow heavily.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lets you answer direct questions about numbers. Mention that the normal memory rows demonstrate the bottleneck; partitioned rows show what happens when the bottleneck is reduced.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to bridge visuals to resource numbers. It also answers why a visually simpler circuit can be more resource-expensive.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conclusion before the conclusion. Pause here and connect directly back to the research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by saying your experiment confirms the paper’s main idea: maximum unroll is not automatically optimal. The right factor is timing/resource-aware.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that the main scientific argument is centered on Kurra et al.; tool references support the implementation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510528"/>
            <a:ext cx="11155680" cy="0"/>
          </a:xfrm>
          <a:prstGeom prst="line">
            <a:avLst/>
          </a:prstGeom>
          <a:noFill/>
          <a:ln w="9525">
            <a:solidFill>
              <a:srgbClr val="C9D4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6601968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7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Loop unrolling in HLS • Christian Percival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C458D01D-ED31-4A0C-318D-1088B03EAC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3899" y="657996"/>
            <a:ext cx="4537481" cy="230923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9DF7544-6FCA-2057-C6BB-995531FF7BD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45" r="1"/>
          <a:stretch>
            <a:fillRect/>
          </a:stretch>
        </p:blipFill>
        <p:spPr>
          <a:xfrm>
            <a:off x="6914043" y="3048035"/>
            <a:ext cx="5045861" cy="2301205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619626" y="2109342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B677A"/>
                </a:solidFill>
              </a:rPr>
              <a:t>Seminar presentation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713232" y="502920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2033"/>
                </a:solidFill>
              </a:rPr>
              <a:t>Christian Percival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2033"/>
                </a:solidFill>
              </a:rPr>
              <a:t>Hochschule Hamm-Lippstadt • Electronic Engineering</a:t>
            </a:r>
            <a:endParaRPr lang="en-US" sz="1600" dirty="0"/>
          </a:p>
        </p:txBody>
      </p:sp>
      <p:pic>
        <p:nvPicPr>
          <p:cNvPr id="5" name="Image 0" descr="/mnt/data/vivado_rtl_schematic_unrolled_factor_8_adder_tree.png"/>
          <p:cNvPicPr>
            <a:picLocks noChangeAspect="1"/>
          </p:cNvPicPr>
          <p:nvPr/>
        </p:nvPicPr>
        <p:blipFill>
          <a:blip r:embed="rId3"/>
          <a:srcRect l="14230" r="14230"/>
          <a:stretch/>
        </p:blipFill>
        <p:spPr>
          <a:xfrm>
            <a:off x="8275320" y="685800"/>
            <a:ext cx="3246120" cy="2286000"/>
          </a:xfrm>
          <a:prstGeom prst="rect">
            <a:avLst/>
          </a:prstGeom>
        </p:spPr>
      </p:pic>
      <p:pic>
        <p:nvPicPr>
          <p:cNvPr id="6" name="Image 1" descr="/mnt/data/vivado_rtl_schematic_rolled_single_multiplier_fsm.png"/>
          <p:cNvPicPr>
            <a:picLocks noChangeAspect="1"/>
          </p:cNvPicPr>
          <p:nvPr/>
        </p:nvPicPr>
        <p:blipFill>
          <a:blip r:embed="rId4"/>
          <a:srcRect l="19896" r="19896"/>
          <a:stretch/>
        </p:blipFill>
        <p:spPr>
          <a:xfrm>
            <a:off x="8275320" y="3063240"/>
            <a:ext cx="3246120" cy="2286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720840" y="5585402"/>
            <a:ext cx="1463040" cy="301752"/>
          </a:xfrm>
          <a:prstGeom prst="roundRect">
            <a:avLst>
              <a:gd name="adj" fmla="val 24242"/>
            </a:avLst>
          </a:prstGeom>
          <a:solidFill>
            <a:srgbClr val="1E6BFF"/>
          </a:solidFill>
          <a:ln w="12700">
            <a:solidFill>
              <a:srgbClr val="1E6B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4"/>
          <p:cNvSpPr/>
          <p:nvPr/>
        </p:nvSpPr>
        <p:spPr>
          <a:xfrm>
            <a:off x="6766560" y="5653982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C/C++ → RTL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8458200" y="5585402"/>
            <a:ext cx="1051560" cy="301752"/>
          </a:xfrm>
          <a:prstGeom prst="roundRect">
            <a:avLst>
              <a:gd name="adj" fmla="val 24242"/>
            </a:avLst>
          </a:prstGeom>
          <a:solidFill>
            <a:srgbClr val="20A39E"/>
          </a:solidFill>
          <a:ln w="12700">
            <a:solidFill>
              <a:srgbClr val="20A39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6"/>
          <p:cNvSpPr/>
          <p:nvPr/>
        </p:nvSpPr>
        <p:spPr>
          <a:xfrm>
            <a:off x="8503920" y="5653982"/>
            <a:ext cx="960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Latency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9738360" y="5585402"/>
            <a:ext cx="1234440" cy="301752"/>
          </a:xfrm>
          <a:prstGeom prst="roundRect">
            <a:avLst>
              <a:gd name="adj" fmla="val 24242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42CB5EE-0001-09C2-44C7-8B25B701D3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7958" y="553146"/>
            <a:ext cx="6949440" cy="479609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784080" y="5653982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Resources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  <p:sp>
        <p:nvSpPr>
          <p:cNvPr id="15" name="Text 0"/>
          <p:cNvSpPr/>
          <p:nvPr/>
        </p:nvSpPr>
        <p:spPr>
          <a:xfrm>
            <a:off x="619626" y="789309"/>
            <a:ext cx="6858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sz="4400" b="1" dirty="0"/>
              <a:t>Loop Unrolling in High-Level Synthesis</a:t>
            </a:r>
            <a:endParaRPr lang="en-US" sz="43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is loop unrolling?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30352" y="82296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B677A"/>
                </a:solidFill>
              </a:rPr>
              <a:t>The same computation is grouped into fewer loop iterations.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4892040" cy="1051560"/>
          </a:xfrm>
          <a:prstGeom prst="roundRect">
            <a:avLst>
              <a:gd name="adj" fmla="val 5217"/>
            </a:avLst>
          </a:prstGeom>
          <a:solidFill>
            <a:srgbClr val="0B1220"/>
          </a:solidFill>
          <a:ln w="12700">
            <a:solidFill>
              <a:srgbClr val="20334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95528" y="1435608"/>
            <a:ext cx="467258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(int i = 0; i &lt; 32; i++) {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 += x[i] * z[i];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51460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02033"/>
                </a:solidFill>
              </a:rPr>
              <a:t>Rolled loop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02033"/>
                </a:solidFill>
              </a:rPr>
              <a:t>32 iterations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583680" y="1143000"/>
            <a:ext cx="4983480" cy="1691640"/>
          </a:xfrm>
          <a:prstGeom prst="roundRect">
            <a:avLst>
              <a:gd name="adj" fmla="val 3243"/>
            </a:avLst>
          </a:prstGeom>
          <a:solidFill>
            <a:srgbClr val="0B1220"/>
          </a:solidFill>
          <a:ln w="12700">
            <a:solidFill>
              <a:srgbClr val="20334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6693408" y="1252728"/>
            <a:ext cx="4764024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(int i = 0; i &lt; 32; i += 4) {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 += x[i]   * z[i];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 += x[i+1] * z[i+1];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 += x[i+2] * z[i+2];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 += x[i+3] * z[i+3];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20" dirty="0"/>
          </a:p>
        </p:txBody>
      </p:sp>
      <p:sp>
        <p:nvSpPr>
          <p:cNvPr id="9" name="Text 7"/>
          <p:cNvSpPr/>
          <p:nvPr/>
        </p:nvSpPr>
        <p:spPr>
          <a:xfrm>
            <a:off x="6583680" y="297180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02033"/>
                </a:solidFill>
              </a:rPr>
              <a:t>Unrolled factor 4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02033"/>
                </a:solidFill>
              </a:rPr>
              <a:t>8 grouped iterations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760720" y="1691640"/>
            <a:ext cx="621792" cy="0"/>
          </a:xfrm>
          <a:prstGeom prst="line">
            <a:avLst/>
          </a:prstGeom>
          <a:noFill/>
          <a:ln w="38100">
            <a:solidFill>
              <a:srgbClr val="1E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097280" y="4160520"/>
            <a:ext cx="96926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92500"/>
          </a:bodyPr>
          <a:lstStyle/>
          <a:p>
            <a:pPr algn="ctr"/>
            <a:r>
              <a:rPr lang="en-GB" sz="2000" dirty="0">
                <a:solidFill>
                  <a:srgbClr val="102033"/>
                </a:solidFill>
              </a:rPr>
              <a:t>Loop unrolling duplicates the loop body so that multiple iterations become visible at once.</a:t>
            </a:r>
          </a:p>
          <a:p>
            <a:pPr algn="ctr"/>
            <a:r>
              <a:rPr lang="en-GB" sz="2000" dirty="0">
                <a:solidFill>
                  <a:srgbClr val="102033"/>
                </a:solidFill>
              </a:rPr>
              <a:t>In HLS, this can expose parallelism, but it can also require more hardware.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changes in High-Level Synthesis?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30352" y="82296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B677A"/>
                </a:solidFill>
              </a:rPr>
              <a:t>HLS turns the loop into a hardware architecture.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685800" y="12344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2033"/>
                </a:solidFill>
              </a:rPr>
              <a:t>High-Level Synthesis flow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" y="1828800"/>
            <a:ext cx="1828800" cy="658368"/>
          </a:xfrm>
          <a:prstGeom prst="chevron">
            <a:avLst/>
          </a:prstGeom>
          <a:solidFill>
            <a:srgbClr val="1E6BFF"/>
          </a:solidFill>
          <a:ln w="12700">
            <a:solidFill>
              <a:srgbClr val="1E6B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868680" y="203911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C/C++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880360" y="1828800"/>
            <a:ext cx="1828800" cy="658368"/>
          </a:xfrm>
          <a:prstGeom prst="chevron">
            <a:avLst/>
          </a:prstGeom>
          <a:solidFill>
            <a:srgbClr val="20A39E"/>
          </a:solidFill>
          <a:ln w="12700">
            <a:solidFill>
              <a:srgbClr val="20A39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2926080" y="203911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Scheduling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937760" y="1828800"/>
            <a:ext cx="1828800" cy="658368"/>
          </a:xfrm>
          <a:prstGeom prst="chevron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983480" y="203911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Binding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995160" y="1828800"/>
            <a:ext cx="1828800" cy="658368"/>
          </a:xfrm>
          <a:prstGeom prst="chevron">
            <a:avLst/>
          </a:prstGeom>
          <a:solidFill>
            <a:srgbClr val="6D5DD3"/>
          </a:solidFill>
          <a:ln w="12700">
            <a:solidFill>
              <a:srgbClr val="6D5DD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7040880" y="203911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Datapath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052560" y="1828800"/>
            <a:ext cx="1828800" cy="658368"/>
          </a:xfrm>
          <a:prstGeom prst="chevron">
            <a:avLst/>
          </a:prstGeom>
          <a:solidFill>
            <a:srgbClr val="102033"/>
          </a:solidFill>
          <a:ln w="12700">
            <a:solidFill>
              <a:srgbClr val="1020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9098280" y="203911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FSM/RTL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031942-C20A-AA00-2FC9-A0C421074807}"/>
              </a:ext>
            </a:extLst>
          </p:cNvPr>
          <p:cNvSpPr txBox="1"/>
          <p:nvPr/>
        </p:nvSpPr>
        <p:spPr>
          <a:xfrm>
            <a:off x="822960" y="3093720"/>
            <a:ext cx="947166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HLS = High-Level Synthesis</a:t>
            </a:r>
          </a:p>
          <a:p>
            <a:r>
              <a:rPr lang="en-GB" dirty="0"/>
              <a:t>Converts C/C++ into hardware.</a:t>
            </a:r>
          </a:p>
          <a:p>
            <a:endParaRPr lang="en-GB" dirty="0"/>
          </a:p>
          <a:p>
            <a:r>
              <a:rPr lang="en-GB" dirty="0"/>
              <a:t>Datapath = hardware that performs calculations</a:t>
            </a:r>
          </a:p>
          <a:p>
            <a:r>
              <a:rPr lang="en-GB" dirty="0"/>
              <a:t>Controller/FSM = hardware that controls when operations happen</a:t>
            </a:r>
          </a:p>
          <a:p>
            <a:r>
              <a:rPr lang="en-GB" dirty="0"/>
              <a:t>RTL = Register Transfer Level, a hardware description using registers and logic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/mnt/data/vivado_rtl_schematic_unrolled_factor_4_adder_tree.png">
            <a:extLst>
              <a:ext uri="{FF2B5EF4-FFF2-40B4-BE49-F238E27FC236}">
                <a16:creationId xmlns:a16="http://schemas.microsoft.com/office/drawing/2014/main" id="{F60624DF-F95C-C7B4-6BD0-4BA12438E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419" y="1751410"/>
            <a:ext cx="7607161" cy="3355179"/>
          </a:xfrm>
          <a:prstGeom prst="rect">
            <a:avLst/>
          </a:prstGeom>
        </p:spPr>
      </p:pic>
      <p:sp>
        <p:nvSpPr>
          <p:cNvPr id="3" name="Text 4">
            <a:extLst>
              <a:ext uri="{FF2B5EF4-FFF2-40B4-BE49-F238E27FC236}">
                <a16:creationId xmlns:a16="http://schemas.microsoft.com/office/drawing/2014/main" id="{FE463C78-BAF1-619C-392E-A70940CD15A7}"/>
              </a:ext>
            </a:extLst>
          </p:cNvPr>
          <p:cNvSpPr/>
          <p:nvPr/>
        </p:nvSpPr>
        <p:spPr>
          <a:xfrm>
            <a:off x="3400927" y="748895"/>
            <a:ext cx="5075727" cy="5851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2033"/>
                </a:solidFill>
              </a:rPr>
              <a:t>Unroll factor 4</a:t>
            </a:r>
            <a:endParaRPr lang="en-US" sz="2000" dirty="0"/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1FA22FB8-221C-F478-1384-686C5D39A4AA}"/>
              </a:ext>
            </a:extLst>
          </p:cNvPr>
          <p:cNvSpPr/>
          <p:nvPr/>
        </p:nvSpPr>
        <p:spPr>
          <a:xfrm>
            <a:off x="3400927" y="1096367"/>
            <a:ext cx="5075727" cy="5851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677A"/>
                </a:solidFill>
              </a:rPr>
              <a:t>4 multipliers + adder tree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4213128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sz="3600" b="1" dirty="0"/>
              <a:t>Why controller delay can increase:</a:t>
            </a:r>
            <a:endParaRPr lang="en-US" sz="3400" b="1" dirty="0"/>
          </a:p>
        </p:txBody>
      </p:sp>
      <p:sp>
        <p:nvSpPr>
          <p:cNvPr id="3" name="Text 1"/>
          <p:cNvSpPr/>
          <p:nvPr/>
        </p:nvSpPr>
        <p:spPr>
          <a:xfrm>
            <a:off x="530352" y="82296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B677A"/>
                </a:solidFill>
              </a:rPr>
              <a:t>Loop unrolling increases the operation/control problem seen by HLS.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85800" y="1417320"/>
            <a:ext cx="1874520" cy="658368"/>
          </a:xfrm>
          <a:prstGeom prst="chevron">
            <a:avLst/>
          </a:prstGeom>
          <a:solidFill>
            <a:srgbClr val="1E6BFF"/>
          </a:solidFill>
          <a:ln w="12700">
            <a:solidFill>
              <a:srgbClr val="1E6B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31520" y="162763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Higher unroll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factor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788920" y="1417320"/>
            <a:ext cx="1874520" cy="658368"/>
          </a:xfrm>
          <a:prstGeom prst="chevron">
            <a:avLst/>
          </a:prstGeom>
          <a:solidFill>
            <a:srgbClr val="20A39E"/>
          </a:solidFill>
          <a:ln w="12700">
            <a:solidFill>
              <a:srgbClr val="20A39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2834640" y="162763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More Data </a:t>
            </a:r>
            <a:br>
              <a:rPr lang="en-US" sz="1500" b="1" dirty="0">
                <a:solidFill>
                  <a:srgbClr val="FFFFFF"/>
                </a:solidFill>
              </a:rPr>
            </a:br>
            <a:r>
              <a:rPr lang="en-US" sz="1500" b="1" dirty="0">
                <a:solidFill>
                  <a:srgbClr val="FFFFFF"/>
                </a:solidFill>
              </a:rPr>
              <a:t>Flow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892040" y="1417320"/>
            <a:ext cx="1874520" cy="658368"/>
          </a:xfrm>
          <a:prstGeom prst="chevron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4937760" y="162763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More </a:t>
            </a:r>
            <a:br>
              <a:rPr lang="en-US" sz="1500" b="1" dirty="0">
                <a:solidFill>
                  <a:srgbClr val="FFFFFF"/>
                </a:solidFill>
              </a:rPr>
            </a:br>
            <a:r>
              <a:rPr lang="en-US" sz="1500" b="1" dirty="0">
                <a:solidFill>
                  <a:srgbClr val="FFFFFF"/>
                </a:solidFill>
              </a:rPr>
              <a:t>HW/control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steps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995160" y="1417320"/>
            <a:ext cx="1874520" cy="658368"/>
          </a:xfrm>
          <a:prstGeom prst="chevron">
            <a:avLst/>
          </a:prstGeom>
          <a:solidFill>
            <a:srgbClr val="6D5DD3"/>
          </a:solidFill>
          <a:ln w="12700">
            <a:solidFill>
              <a:srgbClr val="6D5DD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7040880" y="162763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More state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bits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098280" y="1417320"/>
            <a:ext cx="2057400" cy="658368"/>
          </a:xfrm>
          <a:prstGeom prst="chevron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9144000" y="1627632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FSM/MUX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delay grows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7B0AC67-1BF5-19CE-4475-095FAED3B71A}"/>
              </a:ext>
            </a:extLst>
          </p:cNvPr>
          <p:cNvSpPr txBox="1"/>
          <p:nvPr/>
        </p:nvSpPr>
        <p:spPr>
          <a:xfrm>
            <a:off x="3048000" y="2734056"/>
            <a:ext cx="609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Unrolling makes the loop body larger.</a:t>
            </a:r>
            <a:br>
              <a:rPr lang="en-GB" dirty="0"/>
            </a:br>
            <a:r>
              <a:rPr lang="en-GB" dirty="0"/>
              <a:t>The HLS controller must coordinate more operations.</a:t>
            </a:r>
            <a:br>
              <a:rPr lang="en-GB" dirty="0"/>
            </a:br>
            <a:br>
              <a:rPr lang="en-GB" dirty="0"/>
            </a:br>
            <a:r>
              <a:rPr lang="en-GB" dirty="0"/>
              <a:t>This can increase:</a:t>
            </a:r>
            <a:br>
              <a:rPr lang="en-GB" dirty="0"/>
            </a:br>
            <a:r>
              <a:rPr lang="en-GB" dirty="0"/>
              <a:t>- operations to schedule</a:t>
            </a:r>
            <a:br>
              <a:rPr lang="en-GB" dirty="0"/>
            </a:br>
            <a:r>
              <a:rPr lang="en-GB" dirty="0"/>
              <a:t>- control signals</a:t>
            </a:r>
            <a:br>
              <a:rPr lang="en-GB" dirty="0"/>
            </a:br>
            <a:r>
              <a:rPr lang="en-GB" dirty="0"/>
              <a:t>- FSM states/state bits</a:t>
            </a:r>
            <a:br>
              <a:rPr lang="en-GB" dirty="0"/>
            </a:br>
            <a:r>
              <a:rPr lang="en-GB" dirty="0"/>
              <a:t>- MUX/resource-selection logic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Prototype and experiment setup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30352" y="82296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B677A"/>
                </a:solidFill>
              </a:rPr>
              <a:t>A small Vitis HLS experiment was used instead of only a planned Python model.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758952" y="1518154"/>
            <a:ext cx="4983480" cy="2743200"/>
          </a:xfrm>
          <a:prstGeom prst="roundRect">
            <a:avLst>
              <a:gd name="adj" fmla="val 2000"/>
            </a:avLst>
          </a:prstGeom>
          <a:solidFill>
            <a:srgbClr val="0B1220"/>
          </a:solidFill>
          <a:ln w="12700">
            <a:solidFill>
              <a:srgbClr val="20334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868680" y="1627882"/>
            <a:ext cx="4764024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N 32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dot_product(int x[N], int z[N]) {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q = 0;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loop_main: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(int i = 0; i &lt; N; i++) {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#pragma HLS UNROLL factor = u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q += x[i] * z[i];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q;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14400" y="513892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GB" sz="1900" b="1" dirty="0">
                <a:solidFill>
                  <a:srgbClr val="1E6BFF"/>
                </a:solidFill>
              </a:rPr>
              <a:t>Prototype: Unrolling only helps when the hardware can support it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FE8B88-A6AA-1456-7A78-B4C817FB3FB8}"/>
              </a:ext>
            </a:extLst>
          </p:cNvPr>
          <p:cNvSpPr txBox="1"/>
          <p:nvPr/>
        </p:nvSpPr>
        <p:spPr>
          <a:xfrm>
            <a:off x="6522722" y="1399032"/>
            <a:ext cx="6096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Measured from Vitis HLS reports:</a:t>
            </a:r>
          </a:p>
          <a:p>
            <a:r>
              <a:rPr lang="en-GB" dirty="0"/>
              <a:t>- latency</a:t>
            </a:r>
          </a:p>
          <a:p>
            <a:r>
              <a:rPr lang="en-GB" dirty="0"/>
              <a:t>- Interval/II = clock cycles between starting new loop 		iterations</a:t>
            </a:r>
          </a:p>
          <a:p>
            <a:pPr marL="285750" indent="-285750">
              <a:buFontTx/>
              <a:buChar char="-"/>
            </a:pPr>
            <a:r>
              <a:rPr lang="en-GB" dirty="0"/>
              <a:t>timing slack</a:t>
            </a:r>
          </a:p>
          <a:p>
            <a:pPr marL="285750" indent="-285750">
              <a:buFontTx/>
              <a:buChar char="-"/>
            </a:pPr>
            <a:endParaRPr lang="en-GB" dirty="0"/>
          </a:p>
          <a:p>
            <a:r>
              <a:rPr lang="en-GB" b="1" dirty="0"/>
              <a:t>Hardware:</a:t>
            </a:r>
          </a:p>
          <a:p>
            <a:r>
              <a:rPr lang="en-GB" dirty="0"/>
              <a:t>- DSPs</a:t>
            </a:r>
          </a:p>
          <a:p>
            <a:r>
              <a:rPr lang="en-GB" dirty="0"/>
              <a:t>- LUTs</a:t>
            </a:r>
          </a:p>
          <a:p>
            <a:r>
              <a:rPr lang="en-GB" dirty="0"/>
              <a:t>- flip-flops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Experiment A: normal memory results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30352" y="82296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B677A"/>
                </a:solidFill>
              </a:rPr>
              <a:t>Unrolling helped at first, then resource limitations cancelled the benefit.</a:t>
            </a:r>
            <a:endParaRPr lang="en-US" sz="145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685800" y="1234440"/>
          <a:ext cx="53949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/>
        </p:nvGraphicFramePr>
        <p:xfrm>
          <a:off x="6446520" y="1234440"/>
          <a:ext cx="507492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 2"/>
          <p:cNvSpPr/>
          <p:nvPr/>
        </p:nvSpPr>
        <p:spPr>
          <a:xfrm>
            <a:off x="868680" y="4434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2033"/>
                </a:solidFill>
              </a:rPr>
              <a:t>Key observation</a:t>
            </a:r>
            <a:endParaRPr lang="en-US" sz="2000" dirty="0"/>
          </a:p>
        </p:txBody>
      </p:sp>
      <p:sp>
        <p:nvSpPr>
          <p:cNvPr id="7" name="Text 3"/>
          <p:cNvSpPr/>
          <p:nvPr/>
        </p:nvSpPr>
        <p:spPr>
          <a:xfrm>
            <a:off x="914400" y="4800600"/>
            <a:ext cx="51663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GB" sz="1750" dirty="0">
                <a:solidFill>
                  <a:srgbClr val="102033"/>
                </a:solidFill>
              </a:rPr>
              <a:t>Factor 2: big improvement</a:t>
            </a:r>
          </a:p>
          <a:p>
            <a:r>
              <a:rPr lang="en-GB" sz="1750" dirty="0">
                <a:solidFill>
                  <a:srgbClr val="102033"/>
                </a:solidFill>
              </a:rPr>
              <a:t>Factors 4–16: latency plateau</a:t>
            </a:r>
          </a:p>
          <a:p>
            <a:r>
              <a:rPr lang="en-GB" sz="1750" dirty="0">
                <a:solidFill>
                  <a:srgbClr val="102033"/>
                </a:solidFill>
              </a:rPr>
              <a:t>Factor 32: negative slack</a:t>
            </a:r>
            <a:endParaRPr lang="en-US" sz="1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C718C7-4F1D-A1C6-1625-9394E7C40385}"/>
              </a:ext>
            </a:extLst>
          </p:cNvPr>
          <p:cNvSpPr txBox="1"/>
          <p:nvPr/>
        </p:nvSpPr>
        <p:spPr>
          <a:xfrm rot="16200000">
            <a:off x="285086" y="2171539"/>
            <a:ext cx="6073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/>
              <a:t>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FA5DB6-F785-466F-45CF-60132EB51FD9}"/>
              </a:ext>
            </a:extLst>
          </p:cNvPr>
          <p:cNvSpPr txBox="1"/>
          <p:nvPr/>
        </p:nvSpPr>
        <p:spPr>
          <a:xfrm>
            <a:off x="3055620" y="3871478"/>
            <a:ext cx="1905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 dirty="0"/>
              <a:t>Unroll </a:t>
            </a:r>
            <a:r>
              <a:rPr lang="en-GB" sz="1100" dirty="0"/>
              <a:t>factor</a:t>
            </a:r>
            <a:endParaRPr lang="en-GB" sz="105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C3A00D-ABBE-05FA-A4F0-66A6EBE60377}"/>
              </a:ext>
            </a:extLst>
          </p:cNvPr>
          <p:cNvSpPr txBox="1"/>
          <p:nvPr/>
        </p:nvSpPr>
        <p:spPr>
          <a:xfrm>
            <a:off x="7108257" y="4133088"/>
            <a:ext cx="609700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Factor    Latency    	Interval/II</a:t>
            </a:r>
          </a:p>
          <a:p>
            <a:r>
              <a:rPr lang="en-GB" dirty="0"/>
              <a:t>1         	370 ns     	1</a:t>
            </a:r>
          </a:p>
          <a:p>
            <a:r>
              <a:rPr lang="en-GB" dirty="0"/>
              <a:t>2         	210 ns     	1</a:t>
            </a:r>
          </a:p>
          <a:p>
            <a:r>
              <a:rPr lang="en-GB" dirty="0"/>
              <a:t>4         	220 ns    	2</a:t>
            </a:r>
          </a:p>
          <a:p>
            <a:r>
              <a:rPr lang="en-GB" dirty="0"/>
              <a:t>8         	220 ns     	4</a:t>
            </a:r>
          </a:p>
          <a:p>
            <a:r>
              <a:rPr lang="en-GB" dirty="0"/>
              <a:t>16        	220 ns     	8</a:t>
            </a:r>
          </a:p>
          <a:p>
            <a:r>
              <a:rPr lang="en-GB" dirty="0"/>
              <a:t>32        	220 ns     	n/a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Experiment B: array partitioning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30352" y="82296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B677A"/>
                </a:solidFill>
              </a:rPr>
              <a:t>Giving HLS more parallel memory access changes the result.</a:t>
            </a:r>
            <a:endParaRPr lang="en-US" sz="145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658368" y="1143000"/>
          <a:ext cx="5532120" cy="2788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/>
        </p:nvGraphicFramePr>
        <p:xfrm>
          <a:off x="6492240" y="1143000"/>
          <a:ext cx="4937760" cy="2788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 2"/>
          <p:cNvSpPr/>
          <p:nvPr/>
        </p:nvSpPr>
        <p:spPr>
          <a:xfrm>
            <a:off x="822960" y="4343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2033"/>
                </a:solidFill>
              </a:rPr>
              <a:t>With complete array partitioning:</a:t>
            </a:r>
            <a:endParaRPr lang="en-US" sz="2000" dirty="0"/>
          </a:p>
        </p:txBody>
      </p:sp>
      <p:sp>
        <p:nvSpPr>
          <p:cNvPr id="7" name="Text 3"/>
          <p:cNvSpPr/>
          <p:nvPr/>
        </p:nvSpPr>
        <p:spPr>
          <a:xfrm>
            <a:off x="868680" y="4709160"/>
            <a:ext cx="516636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750" dirty="0">
                <a:solidFill>
                  <a:srgbClr val="102033"/>
                </a:solidFill>
              </a:rPr>
              <a:t>Factor 4: latency improved from 220 ns to 130 ns.</a:t>
            </a:r>
            <a:endParaRPr lang="en-US" sz="1750" dirty="0"/>
          </a:p>
          <a:p>
            <a:r>
              <a:rPr lang="en-US" sz="1750" dirty="0">
                <a:solidFill>
                  <a:srgbClr val="102033"/>
                </a:solidFill>
              </a:rPr>
              <a:t>Factor 32: latency reached 50 ns.</a:t>
            </a:r>
            <a:endParaRPr lang="en-US" sz="1750" dirty="0"/>
          </a:p>
          <a:p>
            <a:r>
              <a:rPr lang="en-US" sz="1750" dirty="0">
                <a:solidFill>
                  <a:srgbClr val="102033"/>
                </a:solidFill>
              </a:rPr>
              <a:t>The cost was much higher DSP, FF, and LUT usage.</a:t>
            </a:r>
            <a:endParaRPr lang="en-US" sz="1750" dirty="0"/>
          </a:p>
        </p:txBody>
      </p:sp>
      <p:sp>
        <p:nvSpPr>
          <p:cNvPr id="8" name="Text 4"/>
          <p:cNvSpPr/>
          <p:nvPr/>
        </p:nvSpPr>
        <p:spPr>
          <a:xfrm>
            <a:off x="6400800" y="4434840"/>
            <a:ext cx="50749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E6BFF"/>
                </a:solidFill>
              </a:rPr>
              <a:t>Array partitioning means more parallel memory access. Unrolling only helps if the hardware architecture can feed the parallel operations.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126BA13-11AF-E154-D77C-F66D79D7AC37}"/>
              </a:ext>
            </a:extLst>
          </p:cNvPr>
          <p:cNvSpPr txBox="1"/>
          <p:nvPr/>
        </p:nvSpPr>
        <p:spPr>
          <a:xfrm rot="16200000">
            <a:off x="285086" y="2171539"/>
            <a:ext cx="6073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/>
              <a:t>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18DE29-DB95-DD8F-D56C-F51F7B512C8C}"/>
              </a:ext>
            </a:extLst>
          </p:cNvPr>
          <p:cNvSpPr txBox="1"/>
          <p:nvPr/>
        </p:nvSpPr>
        <p:spPr>
          <a:xfrm>
            <a:off x="3002280" y="3467618"/>
            <a:ext cx="1905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 dirty="0"/>
              <a:t>Unroll </a:t>
            </a:r>
            <a:r>
              <a:rPr lang="en-GB" sz="1100" dirty="0"/>
              <a:t>factor</a:t>
            </a:r>
            <a:endParaRPr lang="en-GB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Results summary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30352" y="82296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B677A"/>
                </a:solidFill>
              </a:rPr>
              <a:t>The best choice depends on memory architecture and resource budget.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85800" y="1143000"/>
            <a:ext cx="7178040" cy="4434840"/>
          </a:xfrm>
          <a:prstGeom prst="roundRect">
            <a:avLst>
              <a:gd name="adj" fmla="val 1237"/>
            </a:avLst>
          </a:prstGeom>
          <a:solidFill>
            <a:srgbClr val="0B1220"/>
          </a:solidFill>
          <a:ln w="12700">
            <a:solidFill>
              <a:srgbClr val="20334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95528" y="1252728"/>
            <a:ext cx="6958584" cy="4215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Experiment     u   Lat(ns)   II   DSP    FF    LUT   Slack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         1     370     1     3   311    166   +0.44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         2     210     1     6   573    229   +0.44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         4     220     2     6   832    508   +0.09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        16     220     8     6   979    816   +0.09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        32     220    n/a    6  1025    978   -0.53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partitioned    4     130     1    12  1159    671   +0.44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partitioned    8      90     1    24  2203   1007   +0.09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partitioned   16      80     1    48  4486   2457   +0.09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D7E3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partitioned   32      50    n/a   60  4234   2150   +0.09</a:t>
            </a:r>
            <a:endParaRPr lang="en-US" sz="1220" dirty="0"/>
          </a:p>
        </p:txBody>
      </p:sp>
      <p:sp>
        <p:nvSpPr>
          <p:cNvPr id="6" name="Text 4"/>
          <p:cNvSpPr/>
          <p:nvPr/>
        </p:nvSpPr>
        <p:spPr>
          <a:xfrm>
            <a:off x="8229600" y="1325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02033"/>
                </a:solidFill>
              </a:rPr>
              <a:t>Important result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8229600" y="1783080"/>
            <a:ext cx="310896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2050" b="1" dirty="0">
                <a:solidFill>
                  <a:srgbClr val="1E6BFF"/>
                </a:solidFill>
              </a:rPr>
              <a:t>The lowest latency is not free: partitioned full unrolling reached 50 ns, but used 60 DSPs and thousands of FF/LUT resources.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8229600" y="3840480"/>
            <a:ext cx="310896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102033"/>
                </a:solidFill>
              </a:rPr>
              <a:t>The most efficient factor may be factor 2 or factor 4 depending on whether the goal is low resource usage or low latency.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RTL visualization: what unrolling becomes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30352" y="82296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B677A"/>
                </a:solidFill>
              </a:rPr>
              <a:t>Vivado schematics illustrate the structural growth.</a:t>
            </a:r>
            <a:endParaRPr lang="en-US" sz="1450" dirty="0"/>
          </a:p>
        </p:txBody>
      </p:sp>
      <p:pic>
        <p:nvPicPr>
          <p:cNvPr id="4" name="Image 0" descr="/mnt/data/vivado_rtl_schematic_rolled_single_multiplier_f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05993"/>
            <a:ext cx="3611880" cy="1531413"/>
          </a:xfrm>
          <a:prstGeom prst="rect">
            <a:avLst/>
          </a:prstGeom>
        </p:spPr>
      </p:pic>
      <p:pic>
        <p:nvPicPr>
          <p:cNvPr id="5" name="Image 1" descr="/mnt/data/vivado_rtl_schematic_unrolled_factor_4_adder_tr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9392" y="1385263"/>
            <a:ext cx="3566160" cy="1572874"/>
          </a:xfrm>
          <a:prstGeom prst="rect">
            <a:avLst/>
          </a:prstGeom>
        </p:spPr>
      </p:pic>
      <p:pic>
        <p:nvPicPr>
          <p:cNvPr id="6" name="Image 2" descr="/mnt/data/vivado_rtl_schematic_unrolled_factor_8_adder_tre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1261860"/>
            <a:ext cx="3611880" cy="1819679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02920" y="338328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2033"/>
                </a:solidFill>
              </a:rPr>
              <a:t>Rolled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502920" y="373075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677A"/>
                </a:solidFill>
              </a:rPr>
              <a:t>1 multiplier + FSM</a:t>
            </a:r>
            <a:endParaRPr lang="en-US" sz="1600" dirty="0"/>
          </a:p>
        </p:txBody>
      </p:sp>
      <p:sp>
        <p:nvSpPr>
          <p:cNvPr id="9" name="Text 4"/>
          <p:cNvSpPr/>
          <p:nvPr/>
        </p:nvSpPr>
        <p:spPr>
          <a:xfrm>
            <a:off x="4279392" y="33832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2033"/>
                </a:solidFill>
              </a:rPr>
              <a:t>Unroll factor 4</a:t>
            </a:r>
            <a:endParaRPr lang="en-US" sz="2000" dirty="0"/>
          </a:p>
        </p:txBody>
      </p:sp>
      <p:sp>
        <p:nvSpPr>
          <p:cNvPr id="10" name="Text 5"/>
          <p:cNvSpPr/>
          <p:nvPr/>
        </p:nvSpPr>
        <p:spPr>
          <a:xfrm>
            <a:off x="4279392" y="37307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677A"/>
                </a:solidFill>
              </a:rPr>
              <a:t>4 multipliers + adder tree</a:t>
            </a:r>
            <a:endParaRPr lang="en-US" sz="1600" dirty="0"/>
          </a:p>
        </p:txBody>
      </p:sp>
      <p:sp>
        <p:nvSpPr>
          <p:cNvPr id="11" name="Text 6"/>
          <p:cNvSpPr/>
          <p:nvPr/>
        </p:nvSpPr>
        <p:spPr>
          <a:xfrm>
            <a:off x="8001000" y="338328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2033"/>
                </a:solidFill>
              </a:rPr>
              <a:t>Unroll factor 8</a:t>
            </a:r>
            <a:endParaRPr lang="en-US" sz="2000" dirty="0"/>
          </a:p>
        </p:txBody>
      </p:sp>
      <p:sp>
        <p:nvSpPr>
          <p:cNvPr id="12" name="Text 7"/>
          <p:cNvSpPr/>
          <p:nvPr/>
        </p:nvSpPr>
        <p:spPr>
          <a:xfrm>
            <a:off x="8001000" y="373075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677A"/>
                </a:solidFill>
              </a:rPr>
              <a:t>8 multipliers + larger tree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914400" y="4800600"/>
            <a:ext cx="102412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950" dirty="0">
                <a:solidFill>
                  <a:srgbClr val="102033"/>
                </a:solidFill>
              </a:rPr>
              <a:t>The rolled schematic looks more complex because of control, but it reuses less arithmetic hardware. The unrolled schematics look cleaner but duplicate hardware.</a:t>
            </a:r>
            <a:endParaRPr lang="en-US" sz="1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findings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30352" y="82296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B677A"/>
                </a:solidFill>
              </a:rPr>
              <a:t>What the prototype proves about HLS loop unrolling.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914400" y="1325880"/>
            <a:ext cx="548640" cy="548640"/>
          </a:xfrm>
          <a:prstGeom prst="rect">
            <a:avLst/>
          </a:prstGeom>
          <a:solidFill>
            <a:srgbClr val="1E6B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645920" y="138988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sz="2400" b="1" dirty="0"/>
              <a:t>Unrolling exposes parallelism.</a:t>
            </a:r>
            <a:endParaRPr lang="en-US" sz="2300" b="1" dirty="0"/>
          </a:p>
        </p:txBody>
      </p:sp>
      <p:sp>
        <p:nvSpPr>
          <p:cNvPr id="6" name="Text 4"/>
          <p:cNvSpPr/>
          <p:nvPr/>
        </p:nvSpPr>
        <p:spPr>
          <a:xfrm>
            <a:off x="914400" y="2514600"/>
            <a:ext cx="548640" cy="548640"/>
          </a:xfrm>
          <a:prstGeom prst="rect">
            <a:avLst/>
          </a:prstGeom>
          <a:solidFill>
            <a:srgbClr val="20A39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645920" y="257860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sz="2400" b="1" dirty="0"/>
              <a:t>HLS can only use that parallelism if memory and resources support it.</a:t>
            </a:r>
            <a:endParaRPr lang="en-US" sz="2300" b="1" dirty="0"/>
          </a:p>
        </p:txBody>
      </p:sp>
      <p:sp>
        <p:nvSpPr>
          <p:cNvPr id="8" name="Text 6"/>
          <p:cNvSpPr/>
          <p:nvPr/>
        </p:nvSpPr>
        <p:spPr>
          <a:xfrm>
            <a:off x="914400" y="3703320"/>
            <a:ext cx="548640" cy="548640"/>
          </a:xfrm>
          <a:prstGeom prst="rect">
            <a:avLst/>
          </a:prstGeom>
          <a:solidFill>
            <a:srgbClr val="F59E0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3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645920" y="376732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sz="2400" b="1" dirty="0"/>
              <a:t>Normal memory hit a bottleneck, trip count fell, but interval increased.</a:t>
            </a:r>
            <a:endParaRPr lang="en-US" sz="2300" b="1" dirty="0"/>
          </a:p>
        </p:txBody>
      </p:sp>
      <p:sp>
        <p:nvSpPr>
          <p:cNvPr id="10" name="Text 8"/>
          <p:cNvSpPr/>
          <p:nvPr/>
        </p:nvSpPr>
        <p:spPr>
          <a:xfrm>
            <a:off x="914400" y="4892040"/>
            <a:ext cx="548640" cy="548640"/>
          </a:xfrm>
          <a:prstGeom prst="rect">
            <a:avLst/>
          </a:prstGeom>
          <a:solidFill>
            <a:srgbClr val="D6454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645920" y="495604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sz="2400" b="1" dirty="0"/>
              <a:t>Partitioning enabled lower latency, but resource usage increased strongly.</a:t>
            </a:r>
            <a:endParaRPr lang="en-US" sz="2300" b="1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12344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22960" y="1197864"/>
            <a:ext cx="106070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/>
            <a:r>
              <a:rPr lang="en-GB" sz="2400" b="1" dirty="0">
                <a:solidFill>
                  <a:srgbClr val="0070C0"/>
                </a:solidFill>
              </a:rPr>
              <a:t>Loop unrolling in HLS is a hardware trade-off.</a:t>
            </a:r>
            <a:endParaRPr lang="en-US" sz="2400" b="1" dirty="0">
              <a:solidFill>
                <a:srgbClr val="0070C0"/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1508760" y="2415540"/>
            <a:ext cx="9144000" cy="0"/>
          </a:xfrm>
          <a:prstGeom prst="line">
            <a:avLst/>
          </a:prstGeom>
          <a:noFill/>
          <a:ln w="25400">
            <a:solidFill>
              <a:srgbClr val="C9D4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777240" y="2628908"/>
            <a:ext cx="2560320" cy="856480"/>
          </a:xfrm>
          <a:prstGeom prst="chevron">
            <a:avLst/>
          </a:prstGeom>
          <a:solidFill>
            <a:srgbClr val="21A67A"/>
          </a:solidFill>
          <a:ln w="12700">
            <a:solidFill>
              <a:srgbClr val="21A67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831715" y="2891698"/>
            <a:ext cx="2451370" cy="2973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Reduces</a:t>
            </a:r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Latency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429000" y="2628908"/>
            <a:ext cx="2560320" cy="856480"/>
          </a:xfrm>
          <a:prstGeom prst="chevron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483475" y="2891698"/>
            <a:ext cx="2451370" cy="2973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Duplicates</a:t>
            </a:r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hardware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080760" y="2628908"/>
            <a:ext cx="2560320" cy="856480"/>
          </a:xfrm>
          <a:prstGeom prst="chevron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6189710" y="2908453"/>
            <a:ext cx="2451370" cy="2973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Increases</a:t>
            </a:r>
            <a:br>
              <a:rPr lang="en-US" sz="1500" b="1" dirty="0">
                <a:solidFill>
                  <a:srgbClr val="FFFFFF"/>
                </a:solidFill>
              </a:rPr>
            </a:br>
            <a:r>
              <a:rPr lang="en-US" sz="1500" b="1" dirty="0">
                <a:solidFill>
                  <a:srgbClr val="FFFFFF"/>
                </a:solidFill>
              </a:rPr>
              <a:t>resource</a:t>
            </a:r>
            <a:br>
              <a:rPr lang="en-US" sz="1500" b="1" dirty="0">
                <a:solidFill>
                  <a:srgbClr val="FFFFFF"/>
                </a:solidFill>
              </a:rPr>
            </a:br>
            <a:r>
              <a:rPr lang="en-US" sz="1500" b="1" dirty="0">
                <a:solidFill>
                  <a:srgbClr val="FFFFFF"/>
                </a:solidFill>
              </a:rPr>
              <a:t>usage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732520" y="2628908"/>
            <a:ext cx="2560320" cy="856480"/>
          </a:xfrm>
          <a:prstGeom prst="chevron">
            <a:avLst/>
          </a:prstGeom>
          <a:solidFill>
            <a:srgbClr val="1E6BFF"/>
          </a:solidFill>
          <a:ln w="12700">
            <a:solidFill>
              <a:srgbClr val="1E6B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8841470" y="2932185"/>
            <a:ext cx="2451370" cy="2973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Increases controller Timing/complexity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4381500"/>
            <a:ext cx="102412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02033"/>
                </a:solidFill>
              </a:rPr>
              <a:t>Final answer: choose the unroll factor that gives useful speedup while still meeting resource and timing limits.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30352" y="82296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B677A"/>
                </a:solidFill>
              </a:rPr>
              <a:t>Main paper, related work, and tool references.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685800" y="1143000"/>
            <a:ext cx="10835640" cy="4892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450" dirty="0">
                <a:solidFill>
                  <a:srgbClr val="102033"/>
                </a:solidFill>
              </a:rPr>
              <a:t>S. Kurra, N. K. Singh, and P. R. Panda, “The Impact of Loop Unrolling on Controller Delay in High Level Synthesis,” DATE, 2007.</a:t>
            </a:r>
            <a:endParaRPr lang="en-US" sz="1450" dirty="0"/>
          </a:p>
          <a:p>
            <a:r>
              <a:rPr lang="en-US" sz="1450" dirty="0">
                <a:solidFill>
                  <a:srgbClr val="102033"/>
                </a:solidFill>
              </a:rPr>
              <a:t>V. Sarkar, “Optimized Unrolling of Nested Loops,” ICS, 2000.</a:t>
            </a:r>
            <a:endParaRPr lang="en-US" sz="1450" dirty="0"/>
          </a:p>
          <a:p>
            <a:r>
              <a:rPr lang="en-US" sz="1450" dirty="0">
                <a:solidFill>
                  <a:srgbClr val="102033"/>
                </a:solidFill>
              </a:rPr>
              <a:t>S. Carr and K. Kennedy, “Improving the Ratio of Memory Operations to Floating-Point Operations in Loops,” ACM TOPLAS, 1994.</a:t>
            </a:r>
            <a:endParaRPr lang="en-US" sz="1450" dirty="0"/>
          </a:p>
          <a:p>
            <a:r>
              <a:rPr lang="en-US" sz="1450" dirty="0">
                <a:solidFill>
                  <a:srgbClr val="102033"/>
                </a:solidFill>
              </a:rPr>
              <a:t>A. Koseki et al., “A Method for Estimating Optimal Unrolling Times for Nested Loops,” ISPAN, 1997.</a:t>
            </a:r>
            <a:endParaRPr lang="en-US" sz="1450" dirty="0"/>
          </a:p>
          <a:p>
            <a:r>
              <a:rPr lang="en-US" sz="1450" dirty="0">
                <a:solidFill>
                  <a:srgbClr val="102033"/>
                </a:solidFill>
              </a:rPr>
              <a:t>G. R. Gupta, M. Gupta, and P. R. Panda, “Rapid Estimation of Control Delay from High-Level Specifications,” DAC, 2006.</a:t>
            </a:r>
            <a:endParaRPr lang="en-US" sz="1450" dirty="0"/>
          </a:p>
          <a:p>
            <a:r>
              <a:rPr lang="en-US" sz="1450" dirty="0">
                <a:solidFill>
                  <a:srgbClr val="102033"/>
                </a:solidFill>
              </a:rPr>
              <a:t>V. H. Allan et al., “Software Pipelining,” ACM Computing Surveys, 1995.</a:t>
            </a:r>
            <a:endParaRPr lang="en-US" sz="1450" dirty="0"/>
          </a:p>
          <a:p>
            <a:r>
              <a:rPr lang="en-US" sz="1450" dirty="0">
                <a:solidFill>
                  <a:srgbClr val="102033"/>
                </a:solidFill>
              </a:rPr>
              <a:t>AMD, Vitis High-Level Synthesis User Guide UG1399; Intel, oneAPI FPGA Handbook; Bambu HLS Framework; LegUp 2021.1 Documentation.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77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1853</TotalTime>
  <Words>1486</Words>
  <Application>Microsoft Office PowerPoint</Application>
  <PresentationFormat>Widescreen</PresentationFormat>
  <Paragraphs>186</Paragraphs>
  <Slides>13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Hochschule Hamm-Lippstadt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Impact of Loop Unrolling on Controller Delay in HLS</dc:title>
  <dc:subject>Loop unrolling in High-Level Synthesis</dc:subject>
  <dc:creator>Christian Percival</dc:creator>
  <cp:lastModifiedBy>Christian Percival</cp:lastModifiedBy>
  <cp:revision>17</cp:revision>
  <dcterms:created xsi:type="dcterms:W3CDTF">2026-06-19T16:18:27Z</dcterms:created>
  <dcterms:modified xsi:type="dcterms:W3CDTF">2026-06-29T06:27:37Z</dcterms:modified>
</cp:coreProperties>
</file>