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6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latency (ns)</c:v>
                </c:pt>
              </c:strCache>
            </c:strRef>
          </c:tx>
          <c:spPr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370</c:v>
                </c:pt>
                <c:pt idx="1">
                  <c:v>210</c:v>
                </c:pt>
                <c:pt idx="2">
                  <c:v>220</c:v>
                </c:pt>
                <c:pt idx="3">
                  <c:v>220</c:v>
                </c:pt>
                <c:pt idx="4">
                  <c:v>220</c:v>
                </c:pt>
                <c:pt idx="5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86-4E71-A3A7-83DAB727F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45-421D-A5D4-19ADA7525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LUT / 100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45-421D-A5D4-19ADA75251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FF / 100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8</c:v>
                </c:pt>
                <c:pt idx="3">
                  <c:v>8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45-421D-A5D4-19ADA7525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memory</c:v>
                </c:pt>
              </c:strCache>
            </c:strRef>
          </c:tx>
          <c:spPr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370</c:v>
                </c:pt>
                <c:pt idx="1">
                  <c:v>210</c:v>
                </c:pt>
                <c:pt idx="2">
                  <c:v>220</c:v>
                </c:pt>
                <c:pt idx="3">
                  <c:v>220</c:v>
                </c:pt>
                <c:pt idx="4">
                  <c:v>220</c:v>
                </c:pt>
                <c:pt idx="5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EF-433A-8F49-31EE7C4E37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Partitioned memory</c:v>
                </c:pt>
              </c:strCache>
            </c:strRef>
          </c:tx>
          <c:spPr>
            <a:ln w="3175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2">
                  <c:v>130</c:v>
                </c:pt>
                <c:pt idx="3">
                  <c:v>90</c:v>
                </c:pt>
                <c:pt idx="4">
                  <c:v>80</c:v>
                </c:pt>
                <c:pt idx="5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EF-433A-8F49-31EE7C4E37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24</c:v>
                </c:pt>
                <c:pt idx="2">
                  <c:v>48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53-4739-8D13-18D7ACE84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LUT / 100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10</c:v>
                </c:pt>
                <c:pt idx="2">
                  <c:v>25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53-4739-8D13-18D7ACE843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FF / 100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22</c:v>
                </c:pt>
                <c:pt idx="2">
                  <c:v>45</c:v>
                </c:pt>
                <c:pt idx="3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53-4739-8D13-18D7ACE84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65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loop unrolling as a common optimization, but in HLS it changes generated hardware, not just software code. Mention that the deck includes your own Vitis HLS experiment and Vivado RTL schematic visualizations.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basic idea using code only. Do not yet go deep into hardware. Then transition: in HLS, this high-level transformation has physical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HLS and the terms that appear in the Vitis reports. This makes the later experimental slides understandable.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thing missing from the proposed outline: a clear research question/motivation. It frames the rest of the deck and makes the presentation more scientific.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your experiment back to the assigned paper. The implementation measures resources and timing as indirect evidence because modern HLS tools may not isolate pure controller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own prototype. Emphasize that you used C simulation for correctness first, then C synthesis reports for latency/resources/timing.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II: initiation interval, how often a new loop iteration can start. The result shows that more unrolling is not always faster if II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partitioning x and z breaks the memory bottleneck, allowing II to stay low and more DSPs to be used. But resources grow heavily.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lets you answer direct questions about numbers. Mention that the normal memory rows demonstrate the bottleneck; partitioned rows show what happens when the bottleneck is reduced.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bridge visuals to resource numbers. It also answers why a visually simpler circuit can be more resource-expensive.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conclusion before the conclusion. Pause here and connect directly back to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saying your experiment confirms the paper’s main idea: maximum unroll is not automatically optimal. The right factor is timing/resource-aware.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main scientific argument is centered on Kurra et al.; tool references support the implementation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9525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660196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unrolling in HLS • Christian Percival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458D01D-ED31-4A0C-318D-1088B03EA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899" y="657996"/>
            <a:ext cx="4537481" cy="23092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DF7544-6FCA-2057-C6BB-995531FF7B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5" r="1"/>
          <a:stretch>
            <a:fillRect/>
          </a:stretch>
        </p:blipFill>
        <p:spPr>
          <a:xfrm>
            <a:off x="6914043" y="3048035"/>
            <a:ext cx="5045861" cy="2301205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619626" y="210934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77A"/>
                </a:solidFill>
              </a:rPr>
              <a:t>Seminar presentation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13232" y="5029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033"/>
                </a:solidFill>
              </a:rPr>
              <a:t>Christian Percival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033"/>
                </a:solidFill>
              </a:rPr>
              <a:t>Hochschule Hamm-Lippstadt • Electronic Engineering</a:t>
            </a:r>
            <a:endParaRPr lang="en-US" sz="1600" dirty="0"/>
          </a:p>
        </p:txBody>
      </p:sp>
      <p:pic>
        <p:nvPicPr>
          <p:cNvPr id="5" name="Image 0" descr="/mnt/data/vivado_rtl_schematic_unrolled_factor_8_adder_tree.png"/>
          <p:cNvPicPr>
            <a:picLocks noChangeAspect="1"/>
          </p:cNvPicPr>
          <p:nvPr/>
        </p:nvPicPr>
        <p:blipFill>
          <a:blip r:embed="rId3"/>
          <a:srcRect l="14230" r="14230"/>
          <a:stretch/>
        </p:blipFill>
        <p:spPr>
          <a:xfrm>
            <a:off x="8275320" y="685800"/>
            <a:ext cx="3246120" cy="2286000"/>
          </a:xfrm>
          <a:prstGeom prst="rect">
            <a:avLst/>
          </a:prstGeom>
        </p:spPr>
      </p:pic>
      <p:pic>
        <p:nvPicPr>
          <p:cNvPr id="6" name="Image 1" descr="/mnt/data/vivado_rtl_schematic_rolled_single_multiplier_fsm.png"/>
          <p:cNvPicPr>
            <a:picLocks noChangeAspect="1"/>
          </p:cNvPicPr>
          <p:nvPr/>
        </p:nvPicPr>
        <p:blipFill>
          <a:blip r:embed="rId4"/>
          <a:srcRect l="19896" r="19896"/>
          <a:stretch/>
        </p:blipFill>
        <p:spPr>
          <a:xfrm>
            <a:off x="8275320" y="3063240"/>
            <a:ext cx="3246120" cy="228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20840" y="5585402"/>
            <a:ext cx="1463040" cy="301752"/>
          </a:xfrm>
          <a:prstGeom prst="roundRect">
            <a:avLst>
              <a:gd name="adj" fmla="val 24242"/>
            </a:avLst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6766560" y="565398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C/C++ → RTL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458200" y="5585402"/>
            <a:ext cx="1051560" cy="301752"/>
          </a:xfrm>
          <a:prstGeom prst="roundRect">
            <a:avLst>
              <a:gd name="adj" fmla="val 24242"/>
            </a:avLst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8503920" y="565398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Latency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738360" y="5585402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2CB5EE-0001-09C2-44C7-8B25B701D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958" y="553146"/>
            <a:ext cx="6949440" cy="47960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0" y="565398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Resources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5" name="Text 0"/>
          <p:cNvSpPr/>
          <p:nvPr/>
        </p:nvSpPr>
        <p:spPr>
          <a:xfrm>
            <a:off x="619626" y="789309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4400" b="1" dirty="0"/>
              <a:t>Loop Unrolling in High-Level Synthesis</a:t>
            </a:r>
            <a:endParaRPr lang="en-US" sz="4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loop unrolling?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The same computation is grouped into fewer loop iterations.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892040" cy="105156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2033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95528" y="1435608"/>
            <a:ext cx="46725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32; i++)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+= x[i] * z[i];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33"/>
                </a:solidFill>
              </a:rPr>
              <a:t>Rolled loop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033"/>
                </a:solidFill>
              </a:rPr>
              <a:t>32 iterations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0" y="1143000"/>
            <a:ext cx="4983480" cy="1691640"/>
          </a:xfrm>
          <a:prstGeom prst="roundRect">
            <a:avLst>
              <a:gd name="adj" fmla="val 3243"/>
            </a:avLst>
          </a:prstGeom>
          <a:solidFill>
            <a:srgbClr val="0B1220"/>
          </a:solidFill>
          <a:ln w="12700">
            <a:solidFill>
              <a:srgbClr val="2033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693408" y="1252728"/>
            <a:ext cx="476402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32; i += 4) 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+= x[i]   * z[i];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+= x[i+1] * z[i+1];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+= x[i+2] * z[i+2];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+= x[i+3] * z[i+3];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583680" y="2971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33"/>
                </a:solidFill>
              </a:rPr>
              <a:t>Unrolled factor 4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033"/>
                </a:solidFill>
              </a:rPr>
              <a:t>8 grouped iterations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760720" y="1691640"/>
            <a:ext cx="621792" cy="0"/>
          </a:xfrm>
          <a:prstGeom prst="line">
            <a:avLst/>
          </a:prstGeom>
          <a:noFill/>
          <a:ln w="38100">
            <a:solidFill>
              <a:srgbClr val="1E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9692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algn="ctr"/>
            <a:r>
              <a:rPr lang="en-GB" sz="2000" dirty="0">
                <a:solidFill>
                  <a:srgbClr val="102033"/>
                </a:solidFill>
              </a:rPr>
              <a:t>Loop unrolling duplicates the loop body so that multiple iterations become visible at once.</a:t>
            </a:r>
          </a:p>
          <a:p>
            <a:pPr algn="ctr"/>
            <a:r>
              <a:rPr lang="en-GB" sz="2000" dirty="0">
                <a:solidFill>
                  <a:srgbClr val="102033"/>
                </a:solidFill>
              </a:rPr>
              <a:t>In HLS, this can expose parallelism, but it can also require more hardware.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in High-Level Synthesis?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HLS turns the loop into a hardware architecture.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</a:rPr>
              <a:t>High-Level Synthesis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828800" cy="658368"/>
          </a:xfrm>
          <a:prstGeom prst="chevron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C/C++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1828800" cy="658368"/>
          </a:xfrm>
          <a:prstGeom prst="chevron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926080" y="20391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Scheduling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37760" y="1828800"/>
            <a:ext cx="1828800" cy="65836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983480" y="20391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Binding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95160" y="1828800"/>
            <a:ext cx="1828800" cy="658368"/>
          </a:xfrm>
          <a:prstGeom prst="chevron">
            <a:avLst/>
          </a:prstGeom>
          <a:solidFill>
            <a:srgbClr val="6D5DD3"/>
          </a:solidFill>
          <a:ln w="12700">
            <a:solidFill>
              <a:srgbClr val="6D5DD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040880" y="20391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Datapath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1828800" cy="658368"/>
          </a:xfrm>
          <a:prstGeom prst="chevron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098280" y="20391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FSM/RTL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031942-C20A-AA00-2FC9-A0C421074807}"/>
              </a:ext>
            </a:extLst>
          </p:cNvPr>
          <p:cNvSpPr txBox="1"/>
          <p:nvPr/>
        </p:nvSpPr>
        <p:spPr>
          <a:xfrm>
            <a:off x="822960" y="3093720"/>
            <a:ext cx="9471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HLS = High-Level Synthesis</a:t>
            </a:r>
          </a:p>
          <a:p>
            <a:r>
              <a:rPr lang="en-GB" dirty="0"/>
              <a:t>Converts C/C++ into hardware.</a:t>
            </a:r>
          </a:p>
          <a:p>
            <a:endParaRPr lang="en-GB" dirty="0"/>
          </a:p>
          <a:p>
            <a:r>
              <a:rPr lang="en-GB" dirty="0"/>
              <a:t>Datapath = hardware that performs calculations</a:t>
            </a:r>
          </a:p>
          <a:p>
            <a:r>
              <a:rPr lang="en-GB" dirty="0"/>
              <a:t>Controller/FSM = hardware that controls when operations happen</a:t>
            </a:r>
          </a:p>
          <a:p>
            <a:r>
              <a:rPr lang="en-GB" dirty="0"/>
              <a:t>RTL = Register Transfer Level, a hardware description using registers and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topic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The missing slide in the outline: the problem/research question.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In software, unrolling changes instructions. In HLS, unrolling changes hardware.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011680" cy="658368"/>
          </a:xfrm>
          <a:prstGeom prst="chevron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23591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C/C++ loop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07792" y="2148840"/>
            <a:ext cx="2057400" cy="658368"/>
          </a:xfrm>
          <a:prstGeom prst="chevron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953512" y="23591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HLS schedule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84648" y="2148840"/>
            <a:ext cx="2103120" cy="65836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230368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Datapath + FSM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43800" y="2148840"/>
            <a:ext cx="2057400" cy="658368"/>
          </a:xfrm>
          <a:prstGeom prst="chevron">
            <a:avLst/>
          </a:prstGeom>
          <a:solidFill>
            <a:srgbClr val="6D5DD3"/>
          </a:solidFill>
          <a:ln w="12700">
            <a:solidFill>
              <a:srgbClr val="6D5DD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589520" y="23591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RTL reports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3840480"/>
            <a:ext cx="10149840" cy="1005840"/>
          </a:xfrm>
          <a:prstGeom prst="roundRect">
            <a:avLst>
              <a:gd name="adj" fmla="val 7273"/>
            </a:avLst>
          </a:prstGeom>
          <a:solidFill>
            <a:srgbClr val="E9F1FF"/>
          </a:solidFill>
          <a:ln w="12700">
            <a:solidFill>
              <a:srgbClr val="B9C9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3444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BFF"/>
                </a:solidFill>
              </a:rPr>
              <a:t>Research question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995928"/>
            <a:ext cx="7269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100" b="1" dirty="0">
                <a:solidFill>
                  <a:srgbClr val="102033"/>
                </a:solidFill>
              </a:rPr>
              <a:t>When does loop unrolling stop reducing latency and start increasing hardware/timing pressure?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4440" y="44988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Based on Kurra, Singh &amp; Panda, DATE 2007 — extended with a student Vitis HLS experiment.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600" b="1" dirty="0"/>
              <a:t>Why controller delay can increase:</a:t>
            </a:r>
            <a:endParaRPr lang="en-US" sz="3400" b="1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Loop unrolling increases the operation/control problem seen by HLS.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874520" cy="658368"/>
          </a:xfrm>
          <a:prstGeom prst="chevron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Higher unroll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factor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88920" y="1417320"/>
            <a:ext cx="1874520" cy="658368"/>
          </a:xfrm>
          <a:prstGeom prst="chevron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834640" y="16276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More Data </a:t>
            </a:r>
            <a:br>
              <a:rPr lang="en-US" sz="1500" b="1" dirty="0">
                <a:solidFill>
                  <a:srgbClr val="FFFFFF"/>
                </a:solidFill>
              </a:rPr>
            </a:br>
            <a:r>
              <a:rPr lang="en-US" sz="1500" b="1" dirty="0">
                <a:solidFill>
                  <a:srgbClr val="FFFFFF"/>
                </a:solidFill>
              </a:rPr>
              <a:t>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92040" y="1417320"/>
            <a:ext cx="1874520" cy="65836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37760" y="16276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More </a:t>
            </a:r>
            <a:br>
              <a:rPr lang="en-US" sz="1500" b="1" dirty="0">
                <a:solidFill>
                  <a:srgbClr val="FFFFFF"/>
                </a:solidFill>
              </a:rPr>
            </a:br>
            <a:r>
              <a:rPr lang="en-US" sz="1500" b="1" dirty="0">
                <a:solidFill>
                  <a:srgbClr val="FFFFFF"/>
                </a:solidFill>
              </a:rPr>
              <a:t>HW/control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95160" y="1417320"/>
            <a:ext cx="1874520" cy="658368"/>
          </a:xfrm>
          <a:prstGeom prst="chevron">
            <a:avLst/>
          </a:prstGeom>
          <a:solidFill>
            <a:srgbClr val="6D5DD3"/>
          </a:solidFill>
          <a:ln w="12700">
            <a:solidFill>
              <a:srgbClr val="6D5DD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040880" y="16276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More state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bits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98280" y="1417320"/>
            <a:ext cx="2057400" cy="658368"/>
          </a:xfrm>
          <a:prstGeom prst="chevron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4400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FSM/MUX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delay grows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B0AC67-1BF5-19CE-4475-095FAED3B71A}"/>
              </a:ext>
            </a:extLst>
          </p:cNvPr>
          <p:cNvSpPr txBox="1"/>
          <p:nvPr/>
        </p:nvSpPr>
        <p:spPr>
          <a:xfrm>
            <a:off x="3048000" y="273405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Unrolling makes the loop body larger.</a:t>
            </a:r>
            <a:br>
              <a:rPr lang="en-GB" dirty="0"/>
            </a:br>
            <a:r>
              <a:rPr lang="en-GB" dirty="0"/>
              <a:t>The HLS controller must coordinate more operations.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This can increase:</a:t>
            </a:r>
            <a:br>
              <a:rPr lang="en-GB" dirty="0"/>
            </a:br>
            <a:r>
              <a:rPr lang="en-GB" dirty="0"/>
              <a:t>- operations to schedule</a:t>
            </a:r>
            <a:br>
              <a:rPr lang="en-GB" dirty="0"/>
            </a:br>
            <a:r>
              <a:rPr lang="en-GB" dirty="0"/>
              <a:t>- control signals</a:t>
            </a:r>
            <a:br>
              <a:rPr lang="en-GB" dirty="0"/>
            </a:br>
            <a:r>
              <a:rPr lang="en-GB" dirty="0"/>
              <a:t>- FSM states/state bits</a:t>
            </a:r>
            <a:br>
              <a:rPr lang="en-GB" dirty="0"/>
            </a:br>
            <a:r>
              <a:rPr lang="en-GB" dirty="0"/>
              <a:t>- MUX/resource-selection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and experiment setup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A small Vitis HLS experiment was used instead of only a planned Python model.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8952" y="1518154"/>
            <a:ext cx="498348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2033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627882"/>
            <a:ext cx="476402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N 32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dot_product(int x[N], int z[N])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q = 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loop_main: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#pragma HLS UNROLL factor = u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 += x[i] * z[i];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q;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51389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900" b="1" dirty="0">
                <a:solidFill>
                  <a:srgbClr val="1E6BFF"/>
                </a:solidFill>
              </a:rPr>
              <a:t>Prototype: Unrolling only helps when the hardware can support 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E8B88-A6AA-1456-7A78-B4C817FB3FB8}"/>
              </a:ext>
            </a:extLst>
          </p:cNvPr>
          <p:cNvSpPr txBox="1"/>
          <p:nvPr/>
        </p:nvSpPr>
        <p:spPr>
          <a:xfrm>
            <a:off x="6522722" y="139903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Measured from Vitis HLS reports:</a:t>
            </a:r>
          </a:p>
          <a:p>
            <a:r>
              <a:rPr lang="en-GB" dirty="0"/>
              <a:t>- latency</a:t>
            </a:r>
          </a:p>
          <a:p>
            <a:r>
              <a:rPr lang="en-GB" dirty="0"/>
              <a:t>- Interval/II = clock cycles between starting new loop 		iterations</a:t>
            </a:r>
          </a:p>
          <a:p>
            <a:pPr marL="285750" indent="-285750">
              <a:buFontTx/>
              <a:buChar char="-"/>
            </a:pPr>
            <a:r>
              <a:rPr lang="en-GB" dirty="0"/>
              <a:t>timing slack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r>
              <a:rPr lang="en-GB" b="1" dirty="0"/>
              <a:t>Hardware:</a:t>
            </a:r>
          </a:p>
          <a:p>
            <a:r>
              <a:rPr lang="en-GB" dirty="0"/>
              <a:t>- DSPs</a:t>
            </a:r>
          </a:p>
          <a:p>
            <a:r>
              <a:rPr lang="en-GB" dirty="0"/>
              <a:t>- LUTs</a:t>
            </a:r>
          </a:p>
          <a:p>
            <a:r>
              <a:rPr lang="en-GB" dirty="0"/>
              <a:t>- flip-flops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A: normal memory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Unrolling helped at first, then resource limitations cancelled the benefit.</a:t>
            </a:r>
            <a:endParaRPr lang="en-US" sz="14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23444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46520" y="1234440"/>
          <a:ext cx="5074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8686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3"/>
                </a:solidFill>
              </a:rPr>
              <a:t>Key observation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14400" y="4800600"/>
            <a:ext cx="5166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GB" sz="1750" dirty="0">
                <a:solidFill>
                  <a:srgbClr val="102033"/>
                </a:solidFill>
              </a:rPr>
              <a:t>Factor 2: big improvement</a:t>
            </a:r>
          </a:p>
          <a:p>
            <a:r>
              <a:rPr lang="en-GB" sz="1750" dirty="0">
                <a:solidFill>
                  <a:srgbClr val="102033"/>
                </a:solidFill>
              </a:rPr>
              <a:t>Factors 4–16: latency plateau</a:t>
            </a:r>
          </a:p>
          <a:p>
            <a:r>
              <a:rPr lang="en-GB" sz="1750" dirty="0">
                <a:solidFill>
                  <a:srgbClr val="102033"/>
                </a:solidFill>
              </a:rPr>
              <a:t>Factor 32: negative slack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4922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3"/>
                </a:solidFill>
              </a:rPr>
              <a:t>Result interpretation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492240" y="4809744"/>
            <a:ext cx="4800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10000"/>
          </a:bodyPr>
          <a:lstStyle/>
          <a:p>
            <a:r>
              <a:rPr lang="en-US" sz="1850" dirty="0">
                <a:solidFill>
                  <a:srgbClr val="102033"/>
                </a:solidFill>
              </a:rPr>
              <a:t>Trip count went down, but Interval (II) went up. </a:t>
            </a:r>
          </a:p>
          <a:p>
            <a:r>
              <a:rPr lang="en-US" sz="1850" dirty="0">
                <a:solidFill>
                  <a:srgbClr val="102033"/>
                </a:solidFill>
              </a:rPr>
              <a:t>The design exposed more parallelism than the available memory/resource architecture could exploit.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718C7-4F1D-A1C6-1625-9394E7C40385}"/>
              </a:ext>
            </a:extLst>
          </p:cNvPr>
          <p:cNvSpPr txBox="1"/>
          <p:nvPr/>
        </p:nvSpPr>
        <p:spPr>
          <a:xfrm rot="16200000">
            <a:off x="285086" y="2171539"/>
            <a:ext cx="6073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A5DB6-F785-466F-45CF-60132EB51FD9}"/>
              </a:ext>
            </a:extLst>
          </p:cNvPr>
          <p:cNvSpPr txBox="1"/>
          <p:nvPr/>
        </p:nvSpPr>
        <p:spPr>
          <a:xfrm>
            <a:off x="3055620" y="3871478"/>
            <a:ext cx="190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Unroll </a:t>
            </a:r>
            <a:r>
              <a:rPr lang="en-GB" sz="1100" dirty="0"/>
              <a:t>factor</a:t>
            </a:r>
            <a:endParaRPr lang="en-GB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B: array partitioning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Giving HLS more parallel memory access changes the result.</a:t>
            </a:r>
            <a:endParaRPr lang="en-US" sz="14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58368" y="1143000"/>
          <a:ext cx="55321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92240" y="1143000"/>
          <a:ext cx="49377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82296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3"/>
                </a:solidFill>
              </a:rPr>
              <a:t>With complete array partitioning: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68680" y="4709160"/>
            <a:ext cx="5166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50" dirty="0">
                <a:solidFill>
                  <a:srgbClr val="102033"/>
                </a:solidFill>
              </a:rPr>
              <a:t>Factor 4: latency improved from 220 ns to 130 ns.</a:t>
            </a:r>
            <a:endParaRPr lang="en-US" sz="1750" dirty="0"/>
          </a:p>
          <a:p>
            <a:r>
              <a:rPr lang="en-US" sz="1750" dirty="0">
                <a:solidFill>
                  <a:srgbClr val="102033"/>
                </a:solidFill>
              </a:rPr>
              <a:t>Factor 32: latency reached 50 ns.</a:t>
            </a:r>
            <a:endParaRPr lang="en-US" sz="1750" dirty="0"/>
          </a:p>
          <a:p>
            <a:r>
              <a:rPr lang="en-US" sz="1750" dirty="0">
                <a:solidFill>
                  <a:srgbClr val="102033"/>
                </a:solidFill>
              </a:rPr>
              <a:t>The cost was much higher DSP, FF, and LUT usage.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400800" y="4434840"/>
            <a:ext cx="5074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6BFF"/>
                </a:solidFill>
              </a:rPr>
              <a:t>Array partitioning means more parallel memory access. Unrolling only helps if the hardware architecture can feed the parallel operations.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6BA13-11AF-E154-D77C-F66D79D7AC37}"/>
              </a:ext>
            </a:extLst>
          </p:cNvPr>
          <p:cNvSpPr txBox="1"/>
          <p:nvPr/>
        </p:nvSpPr>
        <p:spPr>
          <a:xfrm rot="16200000">
            <a:off x="285086" y="2171539"/>
            <a:ext cx="6073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8DE29-DB95-DD8F-D56C-F51F7B512C8C}"/>
              </a:ext>
            </a:extLst>
          </p:cNvPr>
          <p:cNvSpPr txBox="1"/>
          <p:nvPr/>
        </p:nvSpPr>
        <p:spPr>
          <a:xfrm>
            <a:off x="3002280" y="3467618"/>
            <a:ext cx="190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Unroll </a:t>
            </a:r>
            <a:r>
              <a:rPr lang="en-GB" sz="1100" dirty="0"/>
              <a:t>factor</a:t>
            </a:r>
            <a:endParaRPr lang="en-GB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The best choice depends on memory architecture and resource budget.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7178040" cy="4434840"/>
          </a:xfrm>
          <a:prstGeom prst="roundRect">
            <a:avLst>
              <a:gd name="adj" fmla="val 1237"/>
            </a:avLst>
          </a:prstGeom>
          <a:solidFill>
            <a:srgbClr val="0B1220"/>
          </a:solidFill>
          <a:ln w="12700">
            <a:solidFill>
              <a:srgbClr val="2033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95528" y="1252728"/>
            <a:ext cx="6958584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     u   Lat(ns)   II   DSP    FF    LUT   Slack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       1     370     1     3   311    166   +0.44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       2     210     1     6   573    229   +0.44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       4     220     2     6   832    508   +0.09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      16     220     8     6   979    816   +0.09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      32     220    n/a    6  1025    978   -0.53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   4     130     1    12  1159    671   +0.44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   8      90     1    24  2203   1007   +0.09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  16      80     1    48  4486   2457   +0.09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  32      50    n/a   60  4234   2150   +0.09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822960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</a:rPr>
              <a:t>Important result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E6BFF"/>
                </a:solidFill>
              </a:rPr>
              <a:t>The lowest latency is not free: partitioned full unrolling reached 50 ns, but used 60 DSPs and thousands of FF/LUT resources.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229600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033"/>
                </a:solidFill>
              </a:rPr>
              <a:t>The most efficient factor may be factor 2 or factor 4 depending on whether the goal is low resource usage or low latency.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RTL visualization: what unrolling becomes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Vivado schematics illustrate the structural growth.</a:t>
            </a:r>
            <a:endParaRPr lang="en-US" sz="1450" dirty="0"/>
          </a:p>
        </p:txBody>
      </p:sp>
      <p:pic>
        <p:nvPicPr>
          <p:cNvPr id="4" name="Image 0" descr="/mnt/data/vivado_rtl_schematic_rolled_single_multiplier_f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5993"/>
            <a:ext cx="3611880" cy="1531413"/>
          </a:xfrm>
          <a:prstGeom prst="rect">
            <a:avLst/>
          </a:prstGeom>
        </p:spPr>
      </p:pic>
      <p:pic>
        <p:nvPicPr>
          <p:cNvPr id="5" name="Image 1" descr="/mnt/data/vivado_rtl_schematic_unrolled_factor_4_adder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385263"/>
            <a:ext cx="3566160" cy="1572874"/>
          </a:xfrm>
          <a:prstGeom prst="rect">
            <a:avLst/>
          </a:prstGeom>
        </p:spPr>
      </p:pic>
      <p:pic>
        <p:nvPicPr>
          <p:cNvPr id="6" name="Image 2" descr="/mnt/data/vivado_rtl_schematic_unrolled_factor_8_adder_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261860"/>
            <a:ext cx="3611880" cy="181967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33832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Rolled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502920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7A"/>
                </a:solidFill>
              </a:rPr>
              <a:t>1 multiplier + FSM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279392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Unroll factor 4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4279392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7A"/>
                </a:solidFill>
              </a:rPr>
              <a:t>4 multipliers + adder tree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001000" y="33832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Unroll factor 8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001000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7A"/>
                </a:solidFill>
              </a:rPr>
              <a:t>8 multipliers + larger tree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102033"/>
                </a:solidFill>
              </a:rPr>
              <a:t>The rolled schematic looks more complex because of control, but it reuses less arithmetic hardware. The unrolled schematics look cleaner but duplicate hardware.</a:t>
            </a:r>
            <a:endParaRPr lang="en-US" sz="1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What the prototype proves about HLS loop unrolling.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548640" cy="548640"/>
          </a:xfrm>
          <a:prstGeom prst="rect">
            <a:avLst/>
          </a:prstGeom>
          <a:solidFill>
            <a:srgbClr val="1E6B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3898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 b="1" dirty="0"/>
              <a:t>Unrolling exposes parallelism.</a:t>
            </a:r>
            <a:endParaRPr lang="en-US" sz="2300" b="1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solidFill>
            <a:srgbClr val="20A39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5786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 b="1" dirty="0"/>
              <a:t>HLS can only use that parallelism if memory and resources support it.</a:t>
            </a:r>
            <a:endParaRPr lang="en-US" sz="2300" b="1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54864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37673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 b="1" dirty="0"/>
              <a:t>Normal memory hit a bottleneck, trip count fell, but interval increased.</a:t>
            </a:r>
            <a:endParaRPr lang="en-US" sz="2300" b="1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548640" cy="54864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4956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400" b="1" dirty="0"/>
              <a:t>Partitioning enabled lower latency, but resource usage increased strongly.</a:t>
            </a:r>
            <a:endParaRPr lang="en-US" sz="23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197864"/>
            <a:ext cx="10607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Loop unrolling in HLS is a hardware trade-off.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508760" y="2415540"/>
            <a:ext cx="9144000" cy="0"/>
          </a:xfrm>
          <a:prstGeom prst="line">
            <a:avLst/>
          </a:prstGeom>
          <a:noFill/>
          <a:ln w="25400">
            <a:solidFill>
              <a:srgbClr val="C9D4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2628908"/>
            <a:ext cx="2560320" cy="856480"/>
          </a:xfrm>
          <a:prstGeom prst="chevron">
            <a:avLst/>
          </a:prstGeom>
          <a:solidFill>
            <a:srgbClr val="21A67A"/>
          </a:solidFill>
          <a:ln w="12700">
            <a:solidFill>
              <a:srgbClr val="21A6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31715" y="2891698"/>
            <a:ext cx="2451370" cy="297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Reduces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Latency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9000" y="2628908"/>
            <a:ext cx="2560320" cy="8564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83475" y="2891698"/>
            <a:ext cx="2451370" cy="297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Duplicates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hardware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0760" y="2628908"/>
            <a:ext cx="2560320" cy="856480"/>
          </a:xfrm>
          <a:prstGeom prst="chevron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189710" y="2908453"/>
            <a:ext cx="2451370" cy="297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Increases</a:t>
            </a:r>
            <a:br>
              <a:rPr lang="en-US" sz="1500" b="1" dirty="0">
                <a:solidFill>
                  <a:srgbClr val="FFFFFF"/>
                </a:solidFill>
              </a:rPr>
            </a:br>
            <a:r>
              <a:rPr lang="en-US" sz="1500" b="1" dirty="0">
                <a:solidFill>
                  <a:srgbClr val="FFFFFF"/>
                </a:solidFill>
              </a:rPr>
              <a:t>resource</a:t>
            </a:r>
            <a:br>
              <a:rPr lang="en-US" sz="1500" b="1" dirty="0">
                <a:solidFill>
                  <a:srgbClr val="FFFFFF"/>
                </a:solidFill>
              </a:rPr>
            </a:br>
            <a:r>
              <a:rPr lang="en-US" sz="1500" b="1" dirty="0">
                <a:solidFill>
                  <a:srgbClr val="FFFFFF"/>
                </a:solidFill>
              </a:rPr>
              <a:t>usage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732520" y="2628908"/>
            <a:ext cx="2560320" cy="856480"/>
          </a:xfrm>
          <a:prstGeom prst="chevron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841470" y="2932185"/>
            <a:ext cx="2451370" cy="297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Increases controller Timing/complexity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381500"/>
            <a:ext cx="10241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033"/>
                </a:solidFill>
              </a:rPr>
              <a:t>Final answer: choose the unroll factor that gives useful speedup while still meeting resource and timing limits.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Main paper, related work, and tool references.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83564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</a:rPr>
              <a:t>S. Kurra, N. K. Singh, and P. R. Panda, “The Impact of Loop Unrolling on Controller Delay in High Level Synthesis,” DATE, 2007.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</a:rPr>
              <a:t>V. Sarkar, “Optimized Unrolling of Nested Loops,” ICS, 2000.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</a:rPr>
              <a:t>S. Carr and K. Kennedy, “Improving the Ratio of Memory Operations to Floating-Point Operations in Loops,” ACM TOPLAS, 1994.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</a:rPr>
              <a:t>A. Koseki et al., “A Method for Estimating Optimal Unrolling Times for Nested Loops,” ISPAN, 1997.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</a:rPr>
              <a:t>G. R. Gupta, M. Gupta, and P. R. Panda, “Rapid Estimation of Control Delay from High-Level Specifications,” DAC, 2006.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</a:rPr>
              <a:t>V. H. Allan et al., “Software Pipelining,” ACM Computing Surveys, 1995.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</a:rPr>
              <a:t>AMD, Vitis High-Level Synthesis User Guide UG1399; Intel, oneAPI FPGA Handbook; Bambu HLS Framework; LegUp 2021.1 Documentation.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1577</Words>
  <Application>Microsoft Office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Hochschule Hamm-Lippstadt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Loop Unrolling on Controller Delay in HLS</dc:title>
  <dc:subject>Loop unrolling in High-Level Synthesis</dc:subject>
  <dc:creator>Christian Percival</dc:creator>
  <cp:lastModifiedBy>Christian Percival</cp:lastModifiedBy>
  <cp:revision>15</cp:revision>
  <dcterms:created xsi:type="dcterms:W3CDTF">2026-06-19T16:18:27Z</dcterms:created>
  <dcterms:modified xsi:type="dcterms:W3CDTF">2026-06-21T14:08:05Z</dcterms:modified>
</cp:coreProperties>
</file>